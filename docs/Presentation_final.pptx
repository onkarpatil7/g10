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89C25-85DA-F474-84F7-57A5F2D510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5F3DD4-0699-A763-757B-6EE95931F7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704FC6-ED0E-17AA-FEFC-7A5C6AAFB5BF}"/>
              </a:ext>
            </a:extLst>
          </p:cNvPr>
          <p:cNvSpPr>
            <a:spLocks noGrp="1"/>
          </p:cNvSpPr>
          <p:nvPr>
            <p:ph type="dt" sz="half" idx="10"/>
          </p:nvPr>
        </p:nvSpPr>
        <p:spPr/>
        <p:txBody>
          <a:bodyPr/>
          <a:lstStyle/>
          <a:p>
            <a:fld id="{63B2AE21-9CA1-4E93-83FE-B035E05D354A}" type="datetimeFigureOut">
              <a:rPr lang="en-IN" smtClean="0"/>
              <a:t>07-12-2025</a:t>
            </a:fld>
            <a:endParaRPr lang="en-IN"/>
          </a:p>
        </p:txBody>
      </p:sp>
      <p:sp>
        <p:nvSpPr>
          <p:cNvPr id="5" name="Footer Placeholder 4">
            <a:extLst>
              <a:ext uri="{FF2B5EF4-FFF2-40B4-BE49-F238E27FC236}">
                <a16:creationId xmlns:a16="http://schemas.microsoft.com/office/drawing/2014/main" id="{956E38AC-8FF7-CA47-6D2B-7C83EFC426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D091DA-BF03-316B-E5CF-CF599D882D26}"/>
              </a:ext>
            </a:extLst>
          </p:cNvPr>
          <p:cNvSpPr>
            <a:spLocks noGrp="1"/>
          </p:cNvSpPr>
          <p:nvPr>
            <p:ph type="sldNum" sz="quarter" idx="12"/>
          </p:nvPr>
        </p:nvSpPr>
        <p:spPr/>
        <p:txBody>
          <a:bodyPr/>
          <a:lstStyle/>
          <a:p>
            <a:fld id="{88E451CE-BAA9-4F2A-9B8E-FDED47D000E1}" type="slidenum">
              <a:rPr lang="en-IN" smtClean="0"/>
              <a:t>‹#›</a:t>
            </a:fld>
            <a:endParaRPr lang="en-IN"/>
          </a:p>
        </p:txBody>
      </p:sp>
    </p:spTree>
    <p:extLst>
      <p:ext uri="{BB962C8B-B14F-4D97-AF65-F5344CB8AC3E}">
        <p14:creationId xmlns:p14="http://schemas.microsoft.com/office/powerpoint/2010/main" val="1319353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E68-3EFF-56BA-E808-3161D71338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CEBE9A-17F1-C461-CB5E-FBBB6ED61F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97C791-BE53-FCC8-65B7-6B61345D9043}"/>
              </a:ext>
            </a:extLst>
          </p:cNvPr>
          <p:cNvSpPr>
            <a:spLocks noGrp="1"/>
          </p:cNvSpPr>
          <p:nvPr>
            <p:ph type="dt" sz="half" idx="10"/>
          </p:nvPr>
        </p:nvSpPr>
        <p:spPr/>
        <p:txBody>
          <a:bodyPr/>
          <a:lstStyle/>
          <a:p>
            <a:fld id="{63B2AE21-9CA1-4E93-83FE-B035E05D354A}" type="datetimeFigureOut">
              <a:rPr lang="en-IN" smtClean="0"/>
              <a:t>07-12-2025</a:t>
            </a:fld>
            <a:endParaRPr lang="en-IN"/>
          </a:p>
        </p:txBody>
      </p:sp>
      <p:sp>
        <p:nvSpPr>
          <p:cNvPr id="5" name="Footer Placeholder 4">
            <a:extLst>
              <a:ext uri="{FF2B5EF4-FFF2-40B4-BE49-F238E27FC236}">
                <a16:creationId xmlns:a16="http://schemas.microsoft.com/office/drawing/2014/main" id="{C52199C4-2428-D94C-16F6-A97C078A55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B184F9-BF87-2AEF-4683-B8EE9F7B580F}"/>
              </a:ext>
            </a:extLst>
          </p:cNvPr>
          <p:cNvSpPr>
            <a:spLocks noGrp="1"/>
          </p:cNvSpPr>
          <p:nvPr>
            <p:ph type="sldNum" sz="quarter" idx="12"/>
          </p:nvPr>
        </p:nvSpPr>
        <p:spPr/>
        <p:txBody>
          <a:bodyPr/>
          <a:lstStyle/>
          <a:p>
            <a:fld id="{88E451CE-BAA9-4F2A-9B8E-FDED47D000E1}" type="slidenum">
              <a:rPr lang="en-IN" smtClean="0"/>
              <a:t>‹#›</a:t>
            </a:fld>
            <a:endParaRPr lang="en-IN"/>
          </a:p>
        </p:txBody>
      </p:sp>
    </p:spTree>
    <p:extLst>
      <p:ext uri="{BB962C8B-B14F-4D97-AF65-F5344CB8AC3E}">
        <p14:creationId xmlns:p14="http://schemas.microsoft.com/office/powerpoint/2010/main" val="2200499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82CC4-5407-1679-C3F1-E1D937EE77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3A7842D-8226-A0F0-FDF7-9666B1E82C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30E0F5-204A-9CFF-506D-3E6440344B6A}"/>
              </a:ext>
            </a:extLst>
          </p:cNvPr>
          <p:cNvSpPr>
            <a:spLocks noGrp="1"/>
          </p:cNvSpPr>
          <p:nvPr>
            <p:ph type="dt" sz="half" idx="10"/>
          </p:nvPr>
        </p:nvSpPr>
        <p:spPr/>
        <p:txBody>
          <a:bodyPr/>
          <a:lstStyle/>
          <a:p>
            <a:fld id="{63B2AE21-9CA1-4E93-83FE-B035E05D354A}" type="datetimeFigureOut">
              <a:rPr lang="en-IN" smtClean="0"/>
              <a:t>07-12-2025</a:t>
            </a:fld>
            <a:endParaRPr lang="en-IN"/>
          </a:p>
        </p:txBody>
      </p:sp>
      <p:sp>
        <p:nvSpPr>
          <p:cNvPr id="5" name="Footer Placeholder 4">
            <a:extLst>
              <a:ext uri="{FF2B5EF4-FFF2-40B4-BE49-F238E27FC236}">
                <a16:creationId xmlns:a16="http://schemas.microsoft.com/office/drawing/2014/main" id="{949D905D-0549-AF77-2480-189CFDB0EB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5EEBB8-9C6E-80D0-9B49-3EC3D13B279A}"/>
              </a:ext>
            </a:extLst>
          </p:cNvPr>
          <p:cNvSpPr>
            <a:spLocks noGrp="1"/>
          </p:cNvSpPr>
          <p:nvPr>
            <p:ph type="sldNum" sz="quarter" idx="12"/>
          </p:nvPr>
        </p:nvSpPr>
        <p:spPr/>
        <p:txBody>
          <a:bodyPr/>
          <a:lstStyle/>
          <a:p>
            <a:fld id="{88E451CE-BAA9-4F2A-9B8E-FDED47D000E1}" type="slidenum">
              <a:rPr lang="en-IN" smtClean="0"/>
              <a:t>‹#›</a:t>
            </a:fld>
            <a:endParaRPr lang="en-IN"/>
          </a:p>
        </p:txBody>
      </p:sp>
    </p:spTree>
    <p:extLst>
      <p:ext uri="{BB962C8B-B14F-4D97-AF65-F5344CB8AC3E}">
        <p14:creationId xmlns:p14="http://schemas.microsoft.com/office/powerpoint/2010/main" val="2987779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5133E-9DCC-3C85-6F0F-F32A54A95D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79E266-637B-BF3C-1D04-786E1BB6C0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8CE85DE-3F97-50FA-2D7D-4163274B94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08BE926-2DF2-9746-658B-51C1E7A07EF2}"/>
              </a:ext>
            </a:extLst>
          </p:cNvPr>
          <p:cNvSpPr>
            <a:spLocks noGrp="1"/>
          </p:cNvSpPr>
          <p:nvPr>
            <p:ph type="dt" sz="half" idx="10"/>
          </p:nvPr>
        </p:nvSpPr>
        <p:spPr/>
        <p:txBody>
          <a:bodyPr/>
          <a:lstStyle/>
          <a:p>
            <a:fld id="{63B2AE21-9CA1-4E93-83FE-B035E05D354A}" type="datetimeFigureOut">
              <a:rPr lang="en-IN" smtClean="0"/>
              <a:t>07-12-2025</a:t>
            </a:fld>
            <a:endParaRPr lang="en-IN"/>
          </a:p>
        </p:txBody>
      </p:sp>
      <p:sp>
        <p:nvSpPr>
          <p:cNvPr id="6" name="Footer Placeholder 5">
            <a:extLst>
              <a:ext uri="{FF2B5EF4-FFF2-40B4-BE49-F238E27FC236}">
                <a16:creationId xmlns:a16="http://schemas.microsoft.com/office/drawing/2014/main" id="{860949FA-0520-104A-FED6-2EE920A2C8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9B1392-D0B7-F8D3-59CD-7C6A54722BBC}"/>
              </a:ext>
            </a:extLst>
          </p:cNvPr>
          <p:cNvSpPr>
            <a:spLocks noGrp="1"/>
          </p:cNvSpPr>
          <p:nvPr>
            <p:ph type="sldNum" sz="quarter" idx="12"/>
          </p:nvPr>
        </p:nvSpPr>
        <p:spPr/>
        <p:txBody>
          <a:bodyPr/>
          <a:lstStyle/>
          <a:p>
            <a:fld id="{88E451CE-BAA9-4F2A-9B8E-FDED47D000E1}" type="slidenum">
              <a:rPr lang="en-IN" smtClean="0"/>
              <a:t>‹#›</a:t>
            </a:fld>
            <a:endParaRPr lang="en-IN"/>
          </a:p>
        </p:txBody>
      </p:sp>
    </p:spTree>
    <p:extLst>
      <p:ext uri="{BB962C8B-B14F-4D97-AF65-F5344CB8AC3E}">
        <p14:creationId xmlns:p14="http://schemas.microsoft.com/office/powerpoint/2010/main" val="2845748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83E5E-0E31-E100-C530-A7898039DD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F951D8-2A5F-8E68-AFED-CA62AA6286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414AE6-066B-7678-848B-016135C5B8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1AD336D-1305-6344-0F41-0BF1A16F10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B93B53-6F28-8F6A-9B22-A5613679DB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2A2696-3877-D2D8-4CC3-4F64721602C7}"/>
              </a:ext>
            </a:extLst>
          </p:cNvPr>
          <p:cNvSpPr>
            <a:spLocks noGrp="1"/>
          </p:cNvSpPr>
          <p:nvPr>
            <p:ph type="dt" sz="half" idx="10"/>
          </p:nvPr>
        </p:nvSpPr>
        <p:spPr/>
        <p:txBody>
          <a:bodyPr/>
          <a:lstStyle/>
          <a:p>
            <a:fld id="{63B2AE21-9CA1-4E93-83FE-B035E05D354A}" type="datetimeFigureOut">
              <a:rPr lang="en-IN" smtClean="0"/>
              <a:t>07-12-2025</a:t>
            </a:fld>
            <a:endParaRPr lang="en-IN"/>
          </a:p>
        </p:txBody>
      </p:sp>
      <p:sp>
        <p:nvSpPr>
          <p:cNvPr id="8" name="Footer Placeholder 7">
            <a:extLst>
              <a:ext uri="{FF2B5EF4-FFF2-40B4-BE49-F238E27FC236}">
                <a16:creationId xmlns:a16="http://schemas.microsoft.com/office/drawing/2014/main" id="{049FBA34-45EF-D487-7414-1DE43AE0D1C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C00757-D733-83B7-8C73-BB70C37A9D73}"/>
              </a:ext>
            </a:extLst>
          </p:cNvPr>
          <p:cNvSpPr>
            <a:spLocks noGrp="1"/>
          </p:cNvSpPr>
          <p:nvPr>
            <p:ph type="sldNum" sz="quarter" idx="12"/>
          </p:nvPr>
        </p:nvSpPr>
        <p:spPr/>
        <p:txBody>
          <a:bodyPr/>
          <a:lstStyle/>
          <a:p>
            <a:fld id="{88E451CE-BAA9-4F2A-9B8E-FDED47D000E1}" type="slidenum">
              <a:rPr lang="en-IN" smtClean="0"/>
              <a:t>‹#›</a:t>
            </a:fld>
            <a:endParaRPr lang="en-IN"/>
          </a:p>
        </p:txBody>
      </p:sp>
    </p:spTree>
    <p:extLst>
      <p:ext uri="{BB962C8B-B14F-4D97-AF65-F5344CB8AC3E}">
        <p14:creationId xmlns:p14="http://schemas.microsoft.com/office/powerpoint/2010/main" val="2634205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959A0-B5EF-F732-3A08-05ADE792F6F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4268B60-7739-0B83-3E87-92052F46C9EC}"/>
              </a:ext>
            </a:extLst>
          </p:cNvPr>
          <p:cNvSpPr>
            <a:spLocks noGrp="1"/>
          </p:cNvSpPr>
          <p:nvPr>
            <p:ph type="dt" sz="half" idx="10"/>
          </p:nvPr>
        </p:nvSpPr>
        <p:spPr/>
        <p:txBody>
          <a:bodyPr/>
          <a:lstStyle/>
          <a:p>
            <a:fld id="{63B2AE21-9CA1-4E93-83FE-B035E05D354A}" type="datetimeFigureOut">
              <a:rPr lang="en-IN" smtClean="0"/>
              <a:t>07-12-2025</a:t>
            </a:fld>
            <a:endParaRPr lang="en-IN"/>
          </a:p>
        </p:txBody>
      </p:sp>
      <p:sp>
        <p:nvSpPr>
          <p:cNvPr id="4" name="Footer Placeholder 3">
            <a:extLst>
              <a:ext uri="{FF2B5EF4-FFF2-40B4-BE49-F238E27FC236}">
                <a16:creationId xmlns:a16="http://schemas.microsoft.com/office/drawing/2014/main" id="{41276986-7FE9-6619-EE23-6F506C80C71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6B9972-6029-7F4B-7E5B-BE4AE5D2309B}"/>
              </a:ext>
            </a:extLst>
          </p:cNvPr>
          <p:cNvSpPr>
            <a:spLocks noGrp="1"/>
          </p:cNvSpPr>
          <p:nvPr>
            <p:ph type="sldNum" sz="quarter" idx="12"/>
          </p:nvPr>
        </p:nvSpPr>
        <p:spPr/>
        <p:txBody>
          <a:bodyPr/>
          <a:lstStyle/>
          <a:p>
            <a:fld id="{88E451CE-BAA9-4F2A-9B8E-FDED47D000E1}" type="slidenum">
              <a:rPr lang="en-IN" smtClean="0"/>
              <a:t>‹#›</a:t>
            </a:fld>
            <a:endParaRPr lang="en-IN"/>
          </a:p>
        </p:txBody>
      </p:sp>
    </p:spTree>
    <p:extLst>
      <p:ext uri="{BB962C8B-B14F-4D97-AF65-F5344CB8AC3E}">
        <p14:creationId xmlns:p14="http://schemas.microsoft.com/office/powerpoint/2010/main" val="783727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D1558-0E57-5836-AADB-F5107812651F}"/>
              </a:ext>
            </a:extLst>
          </p:cNvPr>
          <p:cNvSpPr>
            <a:spLocks noGrp="1"/>
          </p:cNvSpPr>
          <p:nvPr>
            <p:ph type="dt" sz="half" idx="10"/>
          </p:nvPr>
        </p:nvSpPr>
        <p:spPr/>
        <p:txBody>
          <a:bodyPr/>
          <a:lstStyle/>
          <a:p>
            <a:fld id="{63B2AE21-9CA1-4E93-83FE-B035E05D354A}" type="datetimeFigureOut">
              <a:rPr lang="en-IN" smtClean="0"/>
              <a:t>07-12-2025</a:t>
            </a:fld>
            <a:endParaRPr lang="en-IN"/>
          </a:p>
        </p:txBody>
      </p:sp>
      <p:sp>
        <p:nvSpPr>
          <p:cNvPr id="3" name="Footer Placeholder 2">
            <a:extLst>
              <a:ext uri="{FF2B5EF4-FFF2-40B4-BE49-F238E27FC236}">
                <a16:creationId xmlns:a16="http://schemas.microsoft.com/office/drawing/2014/main" id="{A95E4D67-F079-3310-1CCF-ABFBDD2CD54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3371730-4420-BB4E-9DF8-EF6CD6ACD848}"/>
              </a:ext>
            </a:extLst>
          </p:cNvPr>
          <p:cNvSpPr>
            <a:spLocks noGrp="1"/>
          </p:cNvSpPr>
          <p:nvPr>
            <p:ph type="sldNum" sz="quarter" idx="12"/>
          </p:nvPr>
        </p:nvSpPr>
        <p:spPr/>
        <p:txBody>
          <a:bodyPr/>
          <a:lstStyle/>
          <a:p>
            <a:fld id="{88E451CE-BAA9-4F2A-9B8E-FDED47D000E1}" type="slidenum">
              <a:rPr lang="en-IN" smtClean="0"/>
              <a:t>‹#›</a:t>
            </a:fld>
            <a:endParaRPr lang="en-IN"/>
          </a:p>
        </p:txBody>
      </p:sp>
    </p:spTree>
    <p:extLst>
      <p:ext uri="{BB962C8B-B14F-4D97-AF65-F5344CB8AC3E}">
        <p14:creationId xmlns:p14="http://schemas.microsoft.com/office/powerpoint/2010/main" val="3433063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D3531-8573-20D2-1507-2E07D68E14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31A044-BE9F-22F4-68FD-E20E1F70B7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543DAB-F432-C21E-F516-2DF01ACF65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8912C3-92C8-3A58-87D3-BFEFD1053937}"/>
              </a:ext>
            </a:extLst>
          </p:cNvPr>
          <p:cNvSpPr>
            <a:spLocks noGrp="1"/>
          </p:cNvSpPr>
          <p:nvPr>
            <p:ph type="dt" sz="half" idx="10"/>
          </p:nvPr>
        </p:nvSpPr>
        <p:spPr/>
        <p:txBody>
          <a:bodyPr/>
          <a:lstStyle/>
          <a:p>
            <a:fld id="{63B2AE21-9CA1-4E93-83FE-B035E05D354A}" type="datetimeFigureOut">
              <a:rPr lang="en-IN" smtClean="0"/>
              <a:t>07-12-2025</a:t>
            </a:fld>
            <a:endParaRPr lang="en-IN"/>
          </a:p>
        </p:txBody>
      </p:sp>
      <p:sp>
        <p:nvSpPr>
          <p:cNvPr id="6" name="Footer Placeholder 5">
            <a:extLst>
              <a:ext uri="{FF2B5EF4-FFF2-40B4-BE49-F238E27FC236}">
                <a16:creationId xmlns:a16="http://schemas.microsoft.com/office/drawing/2014/main" id="{C44C46C1-8A47-5A88-0C04-57B464F981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D41640-D82B-A296-F8E7-EC12D6ED0455}"/>
              </a:ext>
            </a:extLst>
          </p:cNvPr>
          <p:cNvSpPr>
            <a:spLocks noGrp="1"/>
          </p:cNvSpPr>
          <p:nvPr>
            <p:ph type="sldNum" sz="quarter" idx="12"/>
          </p:nvPr>
        </p:nvSpPr>
        <p:spPr/>
        <p:txBody>
          <a:bodyPr/>
          <a:lstStyle/>
          <a:p>
            <a:fld id="{88E451CE-BAA9-4F2A-9B8E-FDED47D000E1}" type="slidenum">
              <a:rPr lang="en-IN" smtClean="0"/>
              <a:t>‹#›</a:t>
            </a:fld>
            <a:endParaRPr lang="en-IN"/>
          </a:p>
        </p:txBody>
      </p:sp>
    </p:spTree>
    <p:extLst>
      <p:ext uri="{BB962C8B-B14F-4D97-AF65-F5344CB8AC3E}">
        <p14:creationId xmlns:p14="http://schemas.microsoft.com/office/powerpoint/2010/main" val="339108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773FB-6C6D-D2B6-38AA-9D19C448E0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E4718C7-297B-372B-587B-34BB2D2EE3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562324-3F40-46CE-096E-F84A539657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72C9A0-DEC5-32E0-6591-8A15C4892F34}"/>
              </a:ext>
            </a:extLst>
          </p:cNvPr>
          <p:cNvSpPr>
            <a:spLocks noGrp="1"/>
          </p:cNvSpPr>
          <p:nvPr>
            <p:ph type="dt" sz="half" idx="10"/>
          </p:nvPr>
        </p:nvSpPr>
        <p:spPr/>
        <p:txBody>
          <a:bodyPr/>
          <a:lstStyle/>
          <a:p>
            <a:fld id="{63B2AE21-9CA1-4E93-83FE-B035E05D354A}" type="datetimeFigureOut">
              <a:rPr lang="en-IN" smtClean="0"/>
              <a:t>07-12-2025</a:t>
            </a:fld>
            <a:endParaRPr lang="en-IN"/>
          </a:p>
        </p:txBody>
      </p:sp>
      <p:sp>
        <p:nvSpPr>
          <p:cNvPr id="6" name="Footer Placeholder 5">
            <a:extLst>
              <a:ext uri="{FF2B5EF4-FFF2-40B4-BE49-F238E27FC236}">
                <a16:creationId xmlns:a16="http://schemas.microsoft.com/office/drawing/2014/main" id="{6A57A7B4-AE57-26CC-37B1-E8E2756D52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E6C034-6A3F-477F-4539-33B5CD16AE8B}"/>
              </a:ext>
            </a:extLst>
          </p:cNvPr>
          <p:cNvSpPr>
            <a:spLocks noGrp="1"/>
          </p:cNvSpPr>
          <p:nvPr>
            <p:ph type="sldNum" sz="quarter" idx="12"/>
          </p:nvPr>
        </p:nvSpPr>
        <p:spPr/>
        <p:txBody>
          <a:bodyPr/>
          <a:lstStyle/>
          <a:p>
            <a:fld id="{88E451CE-BAA9-4F2A-9B8E-FDED47D000E1}" type="slidenum">
              <a:rPr lang="en-IN" smtClean="0"/>
              <a:t>‹#›</a:t>
            </a:fld>
            <a:endParaRPr lang="en-IN"/>
          </a:p>
        </p:txBody>
      </p:sp>
    </p:spTree>
    <p:extLst>
      <p:ext uri="{BB962C8B-B14F-4D97-AF65-F5344CB8AC3E}">
        <p14:creationId xmlns:p14="http://schemas.microsoft.com/office/powerpoint/2010/main" val="4086168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A4B80-9386-51BE-C0A4-5F424AF3C7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A865F7-12C4-6345-EDAC-CCE504BB2D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3EAC4B-7904-B1FD-5352-49C4ADB2DE71}"/>
              </a:ext>
            </a:extLst>
          </p:cNvPr>
          <p:cNvSpPr>
            <a:spLocks noGrp="1"/>
          </p:cNvSpPr>
          <p:nvPr>
            <p:ph type="dt" sz="half" idx="10"/>
          </p:nvPr>
        </p:nvSpPr>
        <p:spPr/>
        <p:txBody>
          <a:bodyPr/>
          <a:lstStyle/>
          <a:p>
            <a:fld id="{63B2AE21-9CA1-4E93-83FE-B035E05D354A}" type="datetimeFigureOut">
              <a:rPr lang="en-IN" smtClean="0"/>
              <a:t>07-12-2025</a:t>
            </a:fld>
            <a:endParaRPr lang="en-IN"/>
          </a:p>
        </p:txBody>
      </p:sp>
      <p:sp>
        <p:nvSpPr>
          <p:cNvPr id="5" name="Footer Placeholder 4">
            <a:extLst>
              <a:ext uri="{FF2B5EF4-FFF2-40B4-BE49-F238E27FC236}">
                <a16:creationId xmlns:a16="http://schemas.microsoft.com/office/drawing/2014/main" id="{F6CC8F30-E3B6-4518-B2B5-077F9AFA98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8F59F0-EC02-9F17-247E-D1244A2AC20E}"/>
              </a:ext>
            </a:extLst>
          </p:cNvPr>
          <p:cNvSpPr>
            <a:spLocks noGrp="1"/>
          </p:cNvSpPr>
          <p:nvPr>
            <p:ph type="sldNum" sz="quarter" idx="12"/>
          </p:nvPr>
        </p:nvSpPr>
        <p:spPr/>
        <p:txBody>
          <a:bodyPr/>
          <a:lstStyle/>
          <a:p>
            <a:fld id="{88E451CE-BAA9-4F2A-9B8E-FDED47D000E1}" type="slidenum">
              <a:rPr lang="en-IN" smtClean="0"/>
              <a:t>‹#›</a:t>
            </a:fld>
            <a:endParaRPr lang="en-IN"/>
          </a:p>
        </p:txBody>
      </p:sp>
    </p:spTree>
    <p:extLst>
      <p:ext uri="{BB962C8B-B14F-4D97-AF65-F5344CB8AC3E}">
        <p14:creationId xmlns:p14="http://schemas.microsoft.com/office/powerpoint/2010/main" val="2366456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24298A-F077-47C4-85BA-F2E8300E78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7512D0-5BD7-F9AD-5BB8-2321765897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C9695A-4D65-DCD6-9BA7-79D7DF83B885}"/>
              </a:ext>
            </a:extLst>
          </p:cNvPr>
          <p:cNvSpPr>
            <a:spLocks noGrp="1"/>
          </p:cNvSpPr>
          <p:nvPr>
            <p:ph type="dt" sz="half" idx="10"/>
          </p:nvPr>
        </p:nvSpPr>
        <p:spPr/>
        <p:txBody>
          <a:bodyPr/>
          <a:lstStyle/>
          <a:p>
            <a:fld id="{63B2AE21-9CA1-4E93-83FE-B035E05D354A}" type="datetimeFigureOut">
              <a:rPr lang="en-IN" smtClean="0"/>
              <a:t>07-12-2025</a:t>
            </a:fld>
            <a:endParaRPr lang="en-IN"/>
          </a:p>
        </p:txBody>
      </p:sp>
      <p:sp>
        <p:nvSpPr>
          <p:cNvPr id="5" name="Footer Placeholder 4">
            <a:extLst>
              <a:ext uri="{FF2B5EF4-FFF2-40B4-BE49-F238E27FC236}">
                <a16:creationId xmlns:a16="http://schemas.microsoft.com/office/drawing/2014/main" id="{9E08EAB9-5848-3B80-9FF9-B56F1DCE07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1619EC-0CB9-F297-0C17-4C4866A91478}"/>
              </a:ext>
            </a:extLst>
          </p:cNvPr>
          <p:cNvSpPr>
            <a:spLocks noGrp="1"/>
          </p:cNvSpPr>
          <p:nvPr>
            <p:ph type="sldNum" sz="quarter" idx="12"/>
          </p:nvPr>
        </p:nvSpPr>
        <p:spPr/>
        <p:txBody>
          <a:bodyPr/>
          <a:lstStyle/>
          <a:p>
            <a:fld id="{88E451CE-BAA9-4F2A-9B8E-FDED47D000E1}" type="slidenum">
              <a:rPr lang="en-IN" smtClean="0"/>
              <a:t>‹#›</a:t>
            </a:fld>
            <a:endParaRPr lang="en-IN"/>
          </a:p>
        </p:txBody>
      </p:sp>
    </p:spTree>
    <p:extLst>
      <p:ext uri="{BB962C8B-B14F-4D97-AF65-F5344CB8AC3E}">
        <p14:creationId xmlns:p14="http://schemas.microsoft.com/office/powerpoint/2010/main" val="3158913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BD04E9-24B4-92F1-F274-A5336D939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7CC9F7-9D3F-C8E1-8645-CCAE9D8FEE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18D5C3-0585-26AD-FC27-EDAAB238E5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B2AE21-9CA1-4E93-83FE-B035E05D354A}" type="datetimeFigureOut">
              <a:rPr lang="en-IN" smtClean="0"/>
              <a:t>07-12-2025</a:t>
            </a:fld>
            <a:endParaRPr lang="en-IN"/>
          </a:p>
        </p:txBody>
      </p:sp>
      <p:sp>
        <p:nvSpPr>
          <p:cNvPr id="5" name="Footer Placeholder 4">
            <a:extLst>
              <a:ext uri="{FF2B5EF4-FFF2-40B4-BE49-F238E27FC236}">
                <a16:creationId xmlns:a16="http://schemas.microsoft.com/office/drawing/2014/main" id="{F996095B-5EE3-B279-116A-D6FF2BCC8A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21DA2CE-818E-CC04-BB2C-8663D82227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E451CE-BAA9-4F2A-9B8E-FDED47D000E1}" type="slidenum">
              <a:rPr lang="en-IN" smtClean="0"/>
              <a:t>‹#›</a:t>
            </a:fld>
            <a:endParaRPr lang="en-IN"/>
          </a:p>
        </p:txBody>
      </p:sp>
    </p:spTree>
    <p:extLst>
      <p:ext uri="{BB962C8B-B14F-4D97-AF65-F5344CB8AC3E}">
        <p14:creationId xmlns:p14="http://schemas.microsoft.com/office/powerpoint/2010/main" val="238761684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A2172-A647-4969-300A-4E8EA52321C1}"/>
              </a:ext>
            </a:extLst>
          </p:cNvPr>
          <p:cNvSpPr>
            <a:spLocks noGrp="1"/>
          </p:cNvSpPr>
          <p:nvPr>
            <p:ph type="ctrTitle"/>
          </p:nvPr>
        </p:nvSpPr>
        <p:spPr>
          <a:xfrm>
            <a:off x="904566" y="92770"/>
            <a:ext cx="9896503" cy="1795024"/>
          </a:xfrm>
        </p:spPr>
        <p:txBody>
          <a:bodyPr/>
          <a:lstStyle/>
          <a:p>
            <a:r>
              <a:rPr lang="en-US" dirty="0"/>
              <a:t>;</a:t>
            </a:r>
            <a:br>
              <a:rPr lang="en-US" dirty="0"/>
            </a:br>
            <a:endParaRPr lang="en-IN" dirty="0"/>
          </a:p>
        </p:txBody>
      </p:sp>
      <p:sp>
        <p:nvSpPr>
          <p:cNvPr id="3" name="Subtitle 2">
            <a:extLst>
              <a:ext uri="{FF2B5EF4-FFF2-40B4-BE49-F238E27FC236}">
                <a16:creationId xmlns:a16="http://schemas.microsoft.com/office/drawing/2014/main" id="{12EEEF1C-1AF5-B52D-F59D-62B6BE3A4558}"/>
              </a:ext>
            </a:extLst>
          </p:cNvPr>
          <p:cNvSpPr>
            <a:spLocks noGrp="1"/>
          </p:cNvSpPr>
          <p:nvPr>
            <p:ph type="subTitle" idx="1"/>
          </p:nvPr>
        </p:nvSpPr>
        <p:spPr>
          <a:xfrm>
            <a:off x="1061880" y="1985692"/>
            <a:ext cx="9389809" cy="1327353"/>
          </a:xfrm>
        </p:spPr>
        <p:txBody>
          <a:bodyPr>
            <a:normAutofit fontScale="32500" lnSpcReduction="20000"/>
          </a:bodyPr>
          <a:lstStyle/>
          <a:p>
            <a:r>
              <a:rPr lang="en-US" sz="7200" b="1" dirty="0">
                <a:latin typeface="Bookman Old Style" panose="02050604050505020204" pitchFamily="18" charset="0"/>
              </a:rPr>
              <a:t>    Department of Computer Science and Engineering</a:t>
            </a:r>
          </a:p>
          <a:p>
            <a:r>
              <a:rPr lang="en-US" sz="5000" dirty="0">
                <a:latin typeface="Bookman Old Style" panose="02050604050505020204" pitchFamily="18" charset="0"/>
              </a:rPr>
              <a:t>        </a:t>
            </a:r>
            <a:r>
              <a:rPr lang="en-US" sz="6400" dirty="0">
                <a:latin typeface="Bookman Old Style" panose="02050604050505020204" pitchFamily="18" charset="0"/>
              </a:rPr>
              <a:t>Mini Project- I Presentation on</a:t>
            </a:r>
          </a:p>
          <a:p>
            <a:endParaRPr lang="en-US" sz="5000" dirty="0">
              <a:latin typeface="Bookman Old Style" panose="02050604050505020204" pitchFamily="18" charset="0"/>
            </a:endParaRPr>
          </a:p>
          <a:p>
            <a:r>
              <a:rPr lang="en-US" sz="4500" dirty="0">
                <a:latin typeface="Bookman Old Style" panose="02050604050505020204" pitchFamily="18" charset="0"/>
              </a:rPr>
              <a:t>          </a:t>
            </a:r>
            <a:r>
              <a:rPr lang="en-US" sz="5600" dirty="0">
                <a:latin typeface="Bookman Old Style" panose="02050604050505020204" pitchFamily="18" charset="0"/>
              </a:rPr>
              <a:t>“Smart Queue Monitoring System”</a:t>
            </a:r>
          </a:p>
          <a:p>
            <a:endParaRPr lang="en-IN" dirty="0"/>
          </a:p>
        </p:txBody>
      </p:sp>
      <p:pic>
        <p:nvPicPr>
          <p:cNvPr id="5" name="Picture 4">
            <a:extLst>
              <a:ext uri="{FF2B5EF4-FFF2-40B4-BE49-F238E27FC236}">
                <a16:creationId xmlns:a16="http://schemas.microsoft.com/office/drawing/2014/main" id="{28BEAF38-FCCA-A836-0BF3-4ACB7436C0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565" y="92771"/>
            <a:ext cx="9896503" cy="1795023"/>
          </a:xfrm>
          <a:prstGeom prst="rect">
            <a:avLst/>
          </a:prstGeom>
        </p:spPr>
      </p:pic>
      <p:sp>
        <p:nvSpPr>
          <p:cNvPr id="6" name="TextBox 5">
            <a:extLst>
              <a:ext uri="{FF2B5EF4-FFF2-40B4-BE49-F238E27FC236}">
                <a16:creationId xmlns:a16="http://schemas.microsoft.com/office/drawing/2014/main" id="{1799CCE4-1088-EE21-23AA-195D73882091}"/>
              </a:ext>
            </a:extLst>
          </p:cNvPr>
          <p:cNvSpPr txBox="1"/>
          <p:nvPr/>
        </p:nvSpPr>
        <p:spPr>
          <a:xfrm>
            <a:off x="1730478" y="6006696"/>
            <a:ext cx="8927689" cy="646331"/>
          </a:xfrm>
          <a:prstGeom prst="rect">
            <a:avLst/>
          </a:prstGeom>
          <a:noFill/>
        </p:spPr>
        <p:txBody>
          <a:bodyPr wrap="square" rtlCol="0">
            <a:spAutoFit/>
          </a:bodyPr>
          <a:lstStyle/>
          <a:p>
            <a:pPr algn="ctr">
              <a:lnSpc>
                <a:spcPct val="90000"/>
              </a:lnSpc>
              <a:spcBef>
                <a:spcPct val="20000"/>
              </a:spcBef>
            </a:pPr>
            <a:r>
              <a:rPr lang="en-US" b="1" dirty="0">
                <a:latin typeface="Bookman Old Style" panose="02050604050505020204" pitchFamily="18" charset="0"/>
              </a:rPr>
              <a:t>Asst. Prof. Ms. P.R. Telshinge </a:t>
            </a:r>
            <a:r>
              <a:rPr lang="en-US" b="1" dirty="0">
                <a:solidFill>
                  <a:srgbClr val="3333FF"/>
                </a:solidFill>
                <a:latin typeface="Bookman Old Style" panose="02050604050505020204" pitchFamily="18" charset="0"/>
              </a:rPr>
              <a:t>			            </a:t>
            </a:r>
            <a:r>
              <a:rPr lang="en-US" b="1" dirty="0">
                <a:latin typeface="Bookman Old Style" panose="02050604050505020204" pitchFamily="18" charset="0"/>
              </a:rPr>
              <a:t>Dr. V. B. Ingale </a:t>
            </a:r>
          </a:p>
          <a:p>
            <a:pPr algn="ctr">
              <a:lnSpc>
                <a:spcPct val="90000"/>
              </a:lnSpc>
              <a:spcBef>
                <a:spcPct val="20000"/>
              </a:spcBef>
            </a:pPr>
            <a:r>
              <a:rPr lang="en-US" sz="1600" b="1" dirty="0">
                <a:latin typeface="Bookman Old Style" panose="02050604050505020204" pitchFamily="18" charset="0"/>
              </a:rPr>
              <a:t>          Guide		 			         </a:t>
            </a:r>
            <a:r>
              <a:rPr lang="en-US" b="1" dirty="0">
                <a:latin typeface="Bookman Old Style" panose="02050604050505020204" pitchFamily="18" charset="0"/>
              </a:rPr>
              <a:t> H. O. D. (CSE)</a:t>
            </a:r>
            <a:endParaRPr lang="en-IN" dirty="0"/>
          </a:p>
        </p:txBody>
      </p:sp>
      <p:sp>
        <p:nvSpPr>
          <p:cNvPr id="7" name="TextBox 6">
            <a:extLst>
              <a:ext uri="{FF2B5EF4-FFF2-40B4-BE49-F238E27FC236}">
                <a16:creationId xmlns:a16="http://schemas.microsoft.com/office/drawing/2014/main" id="{C2BBE010-3F0F-3B12-0345-DA5766784508}"/>
              </a:ext>
            </a:extLst>
          </p:cNvPr>
          <p:cNvSpPr txBox="1"/>
          <p:nvPr/>
        </p:nvSpPr>
        <p:spPr>
          <a:xfrm>
            <a:off x="5250426" y="3275111"/>
            <a:ext cx="1691147" cy="307777"/>
          </a:xfrm>
          <a:prstGeom prst="rect">
            <a:avLst/>
          </a:prstGeom>
          <a:noFill/>
        </p:spPr>
        <p:txBody>
          <a:bodyPr wrap="square" rtlCol="0">
            <a:spAutoFit/>
          </a:bodyPr>
          <a:lstStyle/>
          <a:p>
            <a:r>
              <a:rPr lang="en-US" sz="1400" dirty="0">
                <a:latin typeface="Bookman Old Style" panose="02050604050505020204" pitchFamily="18" charset="0"/>
              </a:rPr>
              <a:t>Presented By</a:t>
            </a:r>
            <a:endParaRPr lang="en-IN" sz="1400" dirty="0"/>
          </a:p>
        </p:txBody>
      </p:sp>
      <p:sp>
        <p:nvSpPr>
          <p:cNvPr id="10" name="TextBox 9">
            <a:extLst>
              <a:ext uri="{FF2B5EF4-FFF2-40B4-BE49-F238E27FC236}">
                <a16:creationId xmlns:a16="http://schemas.microsoft.com/office/drawing/2014/main" id="{FD867B86-B103-70F0-64F6-DFD68E9EF298}"/>
              </a:ext>
            </a:extLst>
          </p:cNvPr>
          <p:cNvSpPr txBox="1"/>
          <p:nvPr/>
        </p:nvSpPr>
        <p:spPr>
          <a:xfrm>
            <a:off x="3441290" y="5637364"/>
            <a:ext cx="5801033" cy="369332"/>
          </a:xfrm>
          <a:prstGeom prst="rect">
            <a:avLst/>
          </a:prstGeom>
          <a:noFill/>
        </p:spPr>
        <p:txBody>
          <a:bodyPr wrap="square" rtlCol="0">
            <a:spAutoFit/>
          </a:bodyPr>
          <a:lstStyle/>
          <a:p>
            <a:r>
              <a:rPr lang="en-US" b="1">
                <a:latin typeface="Bookman Old Style" pitchFamily="18" charset="0"/>
              </a:rPr>
              <a:t>T. Y. CSE ,  Semester V ,  Year 2025 – 2026</a:t>
            </a:r>
            <a:endParaRPr lang="en-US" b="1" dirty="0">
              <a:latin typeface="Bookman Old Style" pitchFamily="18" charset="0"/>
            </a:endParaRPr>
          </a:p>
        </p:txBody>
      </p:sp>
      <p:graphicFrame>
        <p:nvGraphicFramePr>
          <p:cNvPr id="4" name="Table 3">
            <a:extLst>
              <a:ext uri="{FF2B5EF4-FFF2-40B4-BE49-F238E27FC236}">
                <a16:creationId xmlns:a16="http://schemas.microsoft.com/office/drawing/2014/main" id="{2A17BDE6-85D9-A0D0-5164-8740F50404C6}"/>
              </a:ext>
            </a:extLst>
          </p:cNvPr>
          <p:cNvGraphicFramePr>
            <a:graphicFrameLocks noGrp="1"/>
          </p:cNvGraphicFramePr>
          <p:nvPr>
            <p:extLst>
              <p:ext uri="{D42A27DB-BD31-4B8C-83A1-F6EECF244321}">
                <p14:modId xmlns:p14="http://schemas.microsoft.com/office/powerpoint/2010/main" val="1262674373"/>
              </p:ext>
            </p:extLst>
          </p:nvPr>
        </p:nvGraphicFramePr>
        <p:xfrm>
          <a:off x="3583856" y="3512846"/>
          <a:ext cx="5098027" cy="2194560"/>
        </p:xfrm>
        <a:graphic>
          <a:graphicData uri="http://schemas.openxmlformats.org/drawingml/2006/table">
            <a:tbl>
              <a:tblPr firstRow="1" bandRow="1">
                <a:tableStyleId>{5C22544A-7EE6-4342-B048-85BDC9FD1C3A}</a:tableStyleId>
              </a:tblPr>
              <a:tblGrid>
                <a:gridCol w="1828128">
                  <a:extLst>
                    <a:ext uri="{9D8B030D-6E8A-4147-A177-3AD203B41FA5}">
                      <a16:colId xmlns:a16="http://schemas.microsoft.com/office/drawing/2014/main" val="3482571477"/>
                    </a:ext>
                  </a:extLst>
                </a:gridCol>
                <a:gridCol w="3269899">
                  <a:extLst>
                    <a:ext uri="{9D8B030D-6E8A-4147-A177-3AD203B41FA5}">
                      <a16:colId xmlns:a16="http://schemas.microsoft.com/office/drawing/2014/main" val="421692244"/>
                    </a:ext>
                  </a:extLst>
                </a:gridCol>
              </a:tblGrid>
              <a:tr h="356508">
                <a:tc>
                  <a:txBody>
                    <a:bodyPr/>
                    <a:lstStyle/>
                    <a:p>
                      <a:r>
                        <a:rPr lang="en-US" dirty="0"/>
                        <a:t>           Roll No.</a:t>
                      </a:r>
                      <a:endParaRPr lang="en-IN" dirty="0"/>
                    </a:p>
                  </a:txBody>
                  <a:tcPr/>
                </a:tc>
                <a:tc>
                  <a:txBody>
                    <a:bodyPr/>
                    <a:lstStyle/>
                    <a:p>
                      <a:pPr algn="ctr"/>
                      <a:r>
                        <a:rPr lang="en-US" dirty="0"/>
                        <a:t>Student Name</a:t>
                      </a:r>
                      <a:endParaRPr lang="en-IN" dirty="0"/>
                    </a:p>
                  </a:txBody>
                  <a:tcPr/>
                </a:tc>
                <a:extLst>
                  <a:ext uri="{0D108BD9-81ED-4DB2-BD59-A6C34878D82A}">
                    <a16:rowId xmlns:a16="http://schemas.microsoft.com/office/drawing/2014/main" val="1458418512"/>
                  </a:ext>
                </a:extLst>
              </a:tr>
              <a:tr h="356508">
                <a:tc>
                  <a:txBody>
                    <a:bodyPr/>
                    <a:lstStyle/>
                    <a:p>
                      <a:r>
                        <a:rPr lang="en-US" dirty="0"/>
                        <a:t>           CS3029</a:t>
                      </a:r>
                      <a:endParaRPr lang="en-IN" dirty="0"/>
                    </a:p>
                  </a:txBody>
                  <a:tcPr/>
                </a:tc>
                <a:tc>
                  <a:txBody>
                    <a:bodyPr/>
                    <a:lstStyle/>
                    <a:p>
                      <a:pPr algn="ctr"/>
                      <a:r>
                        <a:rPr lang="en-IN" dirty="0"/>
                        <a:t> Satyajeet D. More</a:t>
                      </a:r>
                    </a:p>
                  </a:txBody>
                  <a:tcPr/>
                </a:tc>
                <a:extLst>
                  <a:ext uri="{0D108BD9-81ED-4DB2-BD59-A6C34878D82A}">
                    <a16:rowId xmlns:a16="http://schemas.microsoft.com/office/drawing/2014/main" val="3488330907"/>
                  </a:ext>
                </a:extLst>
              </a:tr>
              <a:tr h="356508">
                <a:tc>
                  <a:txBody>
                    <a:bodyPr/>
                    <a:lstStyle/>
                    <a:p>
                      <a:r>
                        <a:rPr lang="en-US" dirty="0"/>
                        <a:t>           CS3030</a:t>
                      </a:r>
                      <a:endParaRPr lang="en-IN" dirty="0"/>
                    </a:p>
                  </a:txBody>
                  <a:tcPr/>
                </a:tc>
                <a:tc>
                  <a:txBody>
                    <a:bodyPr/>
                    <a:lstStyle/>
                    <a:p>
                      <a:pPr algn="ctr"/>
                      <a:r>
                        <a:rPr lang="en-IN" dirty="0"/>
                        <a:t> Onkar K. Patil</a:t>
                      </a:r>
                    </a:p>
                  </a:txBody>
                  <a:tcPr/>
                </a:tc>
                <a:extLst>
                  <a:ext uri="{0D108BD9-81ED-4DB2-BD59-A6C34878D82A}">
                    <a16:rowId xmlns:a16="http://schemas.microsoft.com/office/drawing/2014/main" val="3206317442"/>
                  </a:ext>
                </a:extLst>
              </a:tr>
              <a:tr h="356508">
                <a:tc>
                  <a:txBody>
                    <a:bodyPr/>
                    <a:lstStyle/>
                    <a:p>
                      <a:r>
                        <a:rPr lang="en-US" dirty="0"/>
                        <a:t>           CS3031</a:t>
                      </a:r>
                      <a:endParaRPr lang="en-IN" dirty="0"/>
                    </a:p>
                  </a:txBody>
                  <a:tcPr/>
                </a:tc>
                <a:tc>
                  <a:txBody>
                    <a:bodyPr/>
                    <a:lstStyle/>
                    <a:p>
                      <a:pPr algn="ctr"/>
                      <a:r>
                        <a:rPr lang="en-IN" dirty="0"/>
                        <a:t> Prachi I. Sakate</a:t>
                      </a:r>
                    </a:p>
                  </a:txBody>
                  <a:tcPr/>
                </a:tc>
                <a:extLst>
                  <a:ext uri="{0D108BD9-81ED-4DB2-BD59-A6C34878D82A}">
                    <a16:rowId xmlns:a16="http://schemas.microsoft.com/office/drawing/2014/main" val="1397798299"/>
                  </a:ext>
                </a:extLst>
              </a:tr>
              <a:tr h="356508">
                <a:tc>
                  <a:txBody>
                    <a:bodyPr/>
                    <a:lstStyle/>
                    <a:p>
                      <a:r>
                        <a:rPr lang="en-US" dirty="0"/>
                        <a:t>           CS3032</a:t>
                      </a:r>
                      <a:endParaRPr lang="en-IN" dirty="0"/>
                    </a:p>
                  </a:txBody>
                  <a:tcPr/>
                </a:tc>
                <a:tc>
                  <a:txBody>
                    <a:bodyPr/>
                    <a:lstStyle/>
                    <a:p>
                      <a:pPr algn="ctr"/>
                      <a:r>
                        <a:rPr lang="en-IN" dirty="0"/>
                        <a:t>Prashant K. Sawant</a:t>
                      </a:r>
                    </a:p>
                  </a:txBody>
                  <a:tcPr/>
                </a:tc>
                <a:extLst>
                  <a:ext uri="{0D108BD9-81ED-4DB2-BD59-A6C34878D82A}">
                    <a16:rowId xmlns:a16="http://schemas.microsoft.com/office/drawing/2014/main" val="1660972895"/>
                  </a:ext>
                </a:extLst>
              </a:tr>
              <a:tr h="356508">
                <a:tc>
                  <a:txBody>
                    <a:bodyPr/>
                    <a:lstStyle/>
                    <a:p>
                      <a:r>
                        <a:rPr lang="en-US" dirty="0"/>
                        <a:t>           CS3043</a:t>
                      </a:r>
                      <a:endParaRPr lang="en-IN" dirty="0"/>
                    </a:p>
                  </a:txBody>
                  <a:tcPr/>
                </a:tc>
                <a:tc>
                  <a:txBody>
                    <a:bodyPr/>
                    <a:lstStyle/>
                    <a:p>
                      <a:pPr algn="ctr"/>
                      <a:r>
                        <a:rPr lang="en-IN" dirty="0"/>
                        <a:t>Sadabashya A. Mujawar</a:t>
                      </a:r>
                    </a:p>
                  </a:txBody>
                  <a:tcPr/>
                </a:tc>
                <a:extLst>
                  <a:ext uri="{0D108BD9-81ED-4DB2-BD59-A6C34878D82A}">
                    <a16:rowId xmlns:a16="http://schemas.microsoft.com/office/drawing/2014/main" val="1720331013"/>
                  </a:ext>
                </a:extLst>
              </a:tr>
            </a:tbl>
          </a:graphicData>
        </a:graphic>
      </p:graphicFrame>
    </p:spTree>
    <p:extLst>
      <p:ext uri="{BB962C8B-B14F-4D97-AF65-F5344CB8AC3E}">
        <p14:creationId xmlns:p14="http://schemas.microsoft.com/office/powerpoint/2010/main" val="3004814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7714A-D2B3-22CC-0AE1-EBAFE3180BF0}"/>
              </a:ext>
            </a:extLst>
          </p:cNvPr>
          <p:cNvSpPr>
            <a:spLocks noGrp="1"/>
          </p:cNvSpPr>
          <p:nvPr>
            <p:ph type="title"/>
          </p:nvPr>
        </p:nvSpPr>
        <p:spPr>
          <a:xfrm>
            <a:off x="919119" y="186813"/>
            <a:ext cx="10353762" cy="970450"/>
          </a:xfrm>
        </p:spPr>
        <p:txBody>
          <a:bodyPr>
            <a:normAutofit/>
          </a:bodyPr>
          <a:lstStyle/>
          <a:p>
            <a:r>
              <a:rPr lang="en-IN" sz="4800" dirty="0"/>
              <a:t>Agenda</a:t>
            </a:r>
          </a:p>
        </p:txBody>
      </p:sp>
      <p:sp>
        <p:nvSpPr>
          <p:cNvPr id="10" name="Rectangle 6">
            <a:extLst>
              <a:ext uri="{FF2B5EF4-FFF2-40B4-BE49-F238E27FC236}">
                <a16:creationId xmlns:a16="http://schemas.microsoft.com/office/drawing/2014/main" id="{70E2AD1F-85F1-0823-BE91-81EDC5B37C9D}"/>
              </a:ext>
            </a:extLst>
          </p:cNvPr>
          <p:cNvSpPr>
            <a:spLocks noGrp="1" noChangeArrowheads="1"/>
          </p:cNvSpPr>
          <p:nvPr>
            <p:ph idx="1"/>
          </p:nvPr>
        </p:nvSpPr>
        <p:spPr bwMode="auto">
          <a:xfrm>
            <a:off x="2585278" y="867089"/>
            <a:ext cx="6680611"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The presentation will cover the following sections: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Introduction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Literature Survey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System Analysis and Design (Proposed Work &amp; Methodology)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System Implementation (HW/SW Requirements &amp; Flowchart)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Results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Future Scope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Conclusion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References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t>Outputs</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1998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FF7D0-DD92-5701-1EB3-16A80F825F1E}"/>
              </a:ext>
            </a:extLst>
          </p:cNvPr>
          <p:cNvSpPr>
            <a:spLocks noGrp="1"/>
          </p:cNvSpPr>
          <p:nvPr>
            <p:ph type="title"/>
          </p:nvPr>
        </p:nvSpPr>
        <p:spPr/>
        <p:txBody>
          <a:bodyPr>
            <a:normAutofit/>
          </a:bodyPr>
          <a:lstStyle/>
          <a:p>
            <a:r>
              <a:rPr lang="en-US" sz="4800" dirty="0"/>
              <a:t>Introduction</a:t>
            </a:r>
            <a:endParaRPr lang="en-IN" sz="4800" dirty="0"/>
          </a:p>
        </p:txBody>
      </p:sp>
      <p:sp>
        <p:nvSpPr>
          <p:cNvPr id="5" name="Rectangle 2">
            <a:extLst>
              <a:ext uri="{FF2B5EF4-FFF2-40B4-BE49-F238E27FC236}">
                <a16:creationId xmlns:a16="http://schemas.microsoft.com/office/drawing/2014/main" id="{EB5B2818-7DB7-5192-DB20-1A7478684CF6}"/>
              </a:ext>
            </a:extLst>
          </p:cNvPr>
          <p:cNvSpPr>
            <a:spLocks noGrp="1" noChangeArrowheads="1"/>
          </p:cNvSpPr>
          <p:nvPr>
            <p:ph idx="1"/>
          </p:nvPr>
        </p:nvSpPr>
        <p:spPr bwMode="auto">
          <a:xfrm>
            <a:off x="787005" y="3224828"/>
            <a:ext cx="10008390" cy="33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sz="2000" dirty="0"/>
              <a:t>Queues are part of every public-facing service such as hospitals, banks, malls, airports, and government offices. Traditional queue systems like manual counting or token systems fail to provide real-time status of queue length or estimated waiting time. With advancements in AI and Computer Vision, it has become possible to automatically detect people, measure queue length, and predict waiting time using live video feeds.</a:t>
            </a:r>
            <a:br>
              <a:rPr lang="en-US" sz="2000" dirty="0"/>
            </a:br>
            <a:r>
              <a:rPr lang="en-US" sz="2000" dirty="0"/>
              <a:t>This project aims to create an AI-powered Smart Queue Monitoring System using YOLO and OpenCV, which provides real-time queue analytics through a web dashboard.</a:t>
            </a:r>
          </a:p>
          <a:p>
            <a:pPr marL="0" indent="0" eaLnBrk="0" fontAlgn="base" hangingPunct="0">
              <a:lnSpc>
                <a:spcPct val="100000"/>
              </a:lnSpc>
              <a:spcBef>
                <a:spcPct val="0"/>
              </a:spcBef>
              <a:spcAft>
                <a:spcPct val="0"/>
              </a:spcAft>
              <a:buNone/>
            </a:pPr>
            <a:endParaRPr lang="en-US" sz="1800" dirty="0"/>
          </a:p>
          <a:p>
            <a:pPr marL="0" indent="0" eaLnBrk="0" fontAlgn="base" hangingPunct="0">
              <a:lnSpc>
                <a:spcPct val="100000"/>
              </a:lnSpc>
              <a:spcBef>
                <a:spcPct val="0"/>
              </a:spcBef>
              <a:spcAft>
                <a:spcPct val="0"/>
              </a:spcAft>
              <a:buNone/>
            </a:pPr>
            <a:endParaRPr lang="en-US" sz="1800" dirty="0"/>
          </a:p>
          <a:p>
            <a:pPr marL="0" indent="0" eaLnBrk="0" fontAlgn="base" hangingPunct="0">
              <a:lnSpc>
                <a:spcPct val="100000"/>
              </a:lnSpc>
              <a:spcBef>
                <a:spcPct val="0"/>
              </a:spcBef>
              <a:spcAft>
                <a:spcPct val="0"/>
              </a:spcAft>
              <a:buNone/>
            </a:pPr>
            <a:endParaRPr lang="en-US" sz="18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B4E8FD23-A6D6-A3BA-76CF-CC325F60871D}"/>
              </a:ext>
            </a:extLst>
          </p:cNvPr>
          <p:cNvSpPr txBox="1"/>
          <p:nvPr/>
        </p:nvSpPr>
        <p:spPr>
          <a:xfrm>
            <a:off x="1244205" y="4213123"/>
            <a:ext cx="10008390" cy="369332"/>
          </a:xfrm>
          <a:prstGeom prst="rect">
            <a:avLst/>
          </a:prstGeom>
          <a:noFill/>
        </p:spPr>
        <p:txBody>
          <a:bodyPr wrap="square" rtlCol="0">
            <a:spAutoFit/>
          </a:bodyPr>
          <a:lstStyle/>
          <a:p>
            <a:endParaRPr lang="en-IN" dirty="0"/>
          </a:p>
        </p:txBody>
      </p:sp>
      <p:sp>
        <p:nvSpPr>
          <p:cNvPr id="11" name="TextBox 10">
            <a:extLst>
              <a:ext uri="{FF2B5EF4-FFF2-40B4-BE49-F238E27FC236}">
                <a16:creationId xmlns:a16="http://schemas.microsoft.com/office/drawing/2014/main" id="{A2133106-0FE4-60F2-A348-222CA08BEB33}"/>
              </a:ext>
            </a:extLst>
          </p:cNvPr>
          <p:cNvSpPr txBox="1"/>
          <p:nvPr/>
        </p:nvSpPr>
        <p:spPr>
          <a:xfrm>
            <a:off x="1549005" y="4517923"/>
            <a:ext cx="10008390" cy="369332"/>
          </a:xfrm>
          <a:prstGeom prst="rect">
            <a:avLst/>
          </a:prstGeom>
          <a:noFill/>
        </p:spPr>
        <p:txBody>
          <a:bodyPr wrap="square" rtlCol="0">
            <a:spAutoFit/>
          </a:bodyPr>
          <a:lstStyle/>
          <a:p>
            <a:endParaRPr lang="en-IN" dirty="0"/>
          </a:p>
        </p:txBody>
      </p:sp>
      <p:sp>
        <p:nvSpPr>
          <p:cNvPr id="12" name="TextBox 11">
            <a:extLst>
              <a:ext uri="{FF2B5EF4-FFF2-40B4-BE49-F238E27FC236}">
                <a16:creationId xmlns:a16="http://schemas.microsoft.com/office/drawing/2014/main" id="{8B15B001-E6E8-4ECB-9ABF-B96666AE9070}"/>
              </a:ext>
            </a:extLst>
          </p:cNvPr>
          <p:cNvSpPr txBox="1"/>
          <p:nvPr/>
        </p:nvSpPr>
        <p:spPr>
          <a:xfrm>
            <a:off x="1701405" y="4670323"/>
            <a:ext cx="10008390" cy="369332"/>
          </a:xfrm>
          <a:prstGeom prst="rect">
            <a:avLst/>
          </a:prstGeom>
          <a:noFill/>
        </p:spPr>
        <p:txBody>
          <a:bodyPr wrap="square" rtlCol="0">
            <a:spAutoFit/>
          </a:bodyPr>
          <a:lstStyle/>
          <a:p>
            <a:endParaRPr lang="en-IN" dirty="0"/>
          </a:p>
        </p:txBody>
      </p:sp>
      <p:sp>
        <p:nvSpPr>
          <p:cNvPr id="13" name="TextBox 12">
            <a:extLst>
              <a:ext uri="{FF2B5EF4-FFF2-40B4-BE49-F238E27FC236}">
                <a16:creationId xmlns:a16="http://schemas.microsoft.com/office/drawing/2014/main" id="{82B4DD17-B50C-003B-7B2A-302E2B8FD77C}"/>
              </a:ext>
            </a:extLst>
          </p:cNvPr>
          <p:cNvSpPr txBox="1"/>
          <p:nvPr/>
        </p:nvSpPr>
        <p:spPr>
          <a:xfrm>
            <a:off x="914400" y="5106925"/>
            <a:ext cx="10008390" cy="369332"/>
          </a:xfrm>
          <a:prstGeom prst="rect">
            <a:avLst/>
          </a:prstGeom>
          <a:noFill/>
        </p:spPr>
        <p:txBody>
          <a:bodyPr wrap="square" rtlCol="0">
            <a:spAutoFit/>
          </a:bodyPr>
          <a:lstStyle/>
          <a:p>
            <a:endParaRPr lang="en-IN" dirty="0"/>
          </a:p>
        </p:txBody>
      </p:sp>
      <p:sp>
        <p:nvSpPr>
          <p:cNvPr id="17" name="TextBox 16">
            <a:extLst>
              <a:ext uri="{FF2B5EF4-FFF2-40B4-BE49-F238E27FC236}">
                <a16:creationId xmlns:a16="http://schemas.microsoft.com/office/drawing/2014/main" id="{7E2F51D9-E595-4D3F-E378-499386DA701F}"/>
              </a:ext>
            </a:extLst>
          </p:cNvPr>
          <p:cNvSpPr txBox="1"/>
          <p:nvPr/>
        </p:nvSpPr>
        <p:spPr>
          <a:xfrm>
            <a:off x="2463405" y="5432323"/>
            <a:ext cx="10008390" cy="369332"/>
          </a:xfrm>
          <a:prstGeom prst="rect">
            <a:avLst/>
          </a:prstGeom>
          <a:noFill/>
        </p:spPr>
        <p:txBody>
          <a:bodyPr wrap="square" rtlCol="0">
            <a:spAutoFit/>
          </a:bodyPr>
          <a:lstStyle/>
          <a:p>
            <a:endParaRPr lang="en-IN" dirty="0"/>
          </a:p>
        </p:txBody>
      </p:sp>
      <p:sp>
        <p:nvSpPr>
          <p:cNvPr id="18" name="TextBox 17">
            <a:extLst>
              <a:ext uri="{FF2B5EF4-FFF2-40B4-BE49-F238E27FC236}">
                <a16:creationId xmlns:a16="http://schemas.microsoft.com/office/drawing/2014/main" id="{04AB282B-3B16-8FEB-A33F-2DD570238611}"/>
              </a:ext>
            </a:extLst>
          </p:cNvPr>
          <p:cNvSpPr txBox="1"/>
          <p:nvPr/>
        </p:nvSpPr>
        <p:spPr>
          <a:xfrm>
            <a:off x="2615805" y="5584723"/>
            <a:ext cx="10008390" cy="369332"/>
          </a:xfrm>
          <a:prstGeom prst="rect">
            <a:avLst/>
          </a:prstGeom>
          <a:noFill/>
        </p:spPr>
        <p:txBody>
          <a:bodyPr wrap="square" rtlCol="0">
            <a:spAutoFit/>
          </a:bodyPr>
          <a:lstStyle/>
          <a:p>
            <a:endParaRPr lang="en-IN" dirty="0"/>
          </a:p>
        </p:txBody>
      </p:sp>
      <p:sp>
        <p:nvSpPr>
          <p:cNvPr id="19" name="TextBox 18">
            <a:extLst>
              <a:ext uri="{FF2B5EF4-FFF2-40B4-BE49-F238E27FC236}">
                <a16:creationId xmlns:a16="http://schemas.microsoft.com/office/drawing/2014/main" id="{53E0FEF7-D29D-4FDD-215E-0D1E5C21D009}"/>
              </a:ext>
            </a:extLst>
          </p:cNvPr>
          <p:cNvSpPr txBox="1"/>
          <p:nvPr/>
        </p:nvSpPr>
        <p:spPr>
          <a:xfrm>
            <a:off x="2768205" y="5737123"/>
            <a:ext cx="10008390" cy="369332"/>
          </a:xfrm>
          <a:prstGeom prst="rect">
            <a:avLst/>
          </a:prstGeom>
          <a:noFill/>
        </p:spPr>
        <p:txBody>
          <a:bodyPr wrap="square" rtlCol="0">
            <a:spAutoFit/>
          </a:bodyPr>
          <a:lstStyle/>
          <a:p>
            <a:endParaRPr lang="en-IN" dirty="0"/>
          </a:p>
        </p:txBody>
      </p:sp>
      <p:sp>
        <p:nvSpPr>
          <p:cNvPr id="20" name="TextBox 19">
            <a:extLst>
              <a:ext uri="{FF2B5EF4-FFF2-40B4-BE49-F238E27FC236}">
                <a16:creationId xmlns:a16="http://schemas.microsoft.com/office/drawing/2014/main" id="{E25C5AB6-33A3-0252-2F65-BA986030E137}"/>
              </a:ext>
            </a:extLst>
          </p:cNvPr>
          <p:cNvSpPr txBox="1"/>
          <p:nvPr/>
        </p:nvSpPr>
        <p:spPr>
          <a:xfrm>
            <a:off x="2920605" y="5889523"/>
            <a:ext cx="10008390" cy="369332"/>
          </a:xfrm>
          <a:prstGeom prst="rect">
            <a:avLst/>
          </a:prstGeom>
          <a:noFill/>
        </p:spPr>
        <p:txBody>
          <a:bodyPr wrap="square" rtlCol="0">
            <a:spAutoFit/>
          </a:bodyPr>
          <a:lstStyle/>
          <a:p>
            <a:endParaRPr lang="en-IN" dirty="0"/>
          </a:p>
        </p:txBody>
      </p:sp>
      <p:sp>
        <p:nvSpPr>
          <p:cNvPr id="21" name="TextBox 20">
            <a:extLst>
              <a:ext uri="{FF2B5EF4-FFF2-40B4-BE49-F238E27FC236}">
                <a16:creationId xmlns:a16="http://schemas.microsoft.com/office/drawing/2014/main" id="{FA932842-55EC-BC83-BC20-18F0B9AAFECB}"/>
              </a:ext>
            </a:extLst>
          </p:cNvPr>
          <p:cNvSpPr txBox="1"/>
          <p:nvPr/>
        </p:nvSpPr>
        <p:spPr>
          <a:xfrm>
            <a:off x="3073005" y="6041923"/>
            <a:ext cx="10008390" cy="369332"/>
          </a:xfrm>
          <a:prstGeom prst="rect">
            <a:avLst/>
          </a:prstGeom>
          <a:noFill/>
        </p:spPr>
        <p:txBody>
          <a:bodyPr wrap="square" rtlCol="0">
            <a:spAutoFit/>
          </a:bodyPr>
          <a:lstStyle/>
          <a:p>
            <a:endParaRPr lang="en-IN" dirty="0"/>
          </a:p>
        </p:txBody>
      </p:sp>
      <p:sp>
        <p:nvSpPr>
          <p:cNvPr id="26" name="Rectangle 3">
            <a:extLst>
              <a:ext uri="{FF2B5EF4-FFF2-40B4-BE49-F238E27FC236}">
                <a16:creationId xmlns:a16="http://schemas.microsoft.com/office/drawing/2014/main" id="{69546B1B-BE88-E4C1-C862-2A73FB79AEDE}"/>
              </a:ext>
            </a:extLst>
          </p:cNvPr>
          <p:cNvSpPr>
            <a:spLocks noChangeArrowheads="1"/>
          </p:cNvSpPr>
          <p:nvPr/>
        </p:nvSpPr>
        <p:spPr bwMode="auto">
          <a:xfrm>
            <a:off x="787005" y="1707877"/>
            <a:ext cx="1061700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Queues are common in banks, hospitals, malls, airports,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Traditional systems lack real-time monitoring and depend on human intervention.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Customers face frustration due to long waiting without knowing queue length or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AI &amp; Computer Vision can automate queue detection with high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The project aims to provide real-time queue length, waiting time estimation, and a live monitoring dashboard.</a:t>
            </a:r>
          </a:p>
        </p:txBody>
      </p:sp>
    </p:spTree>
    <p:extLst>
      <p:ext uri="{BB962C8B-B14F-4D97-AF65-F5344CB8AC3E}">
        <p14:creationId xmlns:p14="http://schemas.microsoft.com/office/powerpoint/2010/main" val="1528758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8810-CA8D-1ADF-8EE6-A62794EEA28C}"/>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898A6871-B04B-97C1-D18B-771FFAA1E40E}"/>
              </a:ext>
            </a:extLst>
          </p:cNvPr>
          <p:cNvSpPr>
            <a:spLocks noGrp="1"/>
          </p:cNvSpPr>
          <p:nvPr>
            <p:ph idx="1"/>
          </p:nvPr>
        </p:nvSpPr>
        <p:spPr>
          <a:xfrm>
            <a:off x="953728" y="1769806"/>
            <a:ext cx="10400071" cy="4407157"/>
          </a:xfrm>
        </p:spPr>
        <p:txBody>
          <a:bodyPr>
            <a:normAutofit/>
          </a:bodyPr>
          <a:lstStyle/>
          <a:p>
            <a:r>
              <a:rPr lang="en-US" sz="2400" dirty="0"/>
              <a:t>Manual and token-based systems lack real-time updates and accuracy.</a:t>
            </a:r>
          </a:p>
          <a:p>
            <a:r>
              <a:rPr lang="en-US" sz="2400" dirty="0"/>
              <a:t>Computer Vision methods exist but face issues in dense and crowded conditions.</a:t>
            </a:r>
          </a:p>
          <a:p>
            <a:r>
              <a:rPr lang="en-US" sz="2400" dirty="0"/>
              <a:t>Deep Learning models like YOLOv5/v8 offer high accuracy in person detection.</a:t>
            </a:r>
          </a:p>
          <a:p>
            <a:r>
              <a:rPr lang="en-US" sz="2400" dirty="0"/>
              <a:t>Existing systems mainly focus on counting, not on real-time dashboard integration.</a:t>
            </a:r>
          </a:p>
          <a:p>
            <a:r>
              <a:rPr lang="en-US" sz="2400" dirty="0"/>
              <a:t>Identified gap: lack of practical, deployable, real-time queue monitoring solutions.</a:t>
            </a:r>
          </a:p>
          <a:p>
            <a:endParaRPr lang="en-IN" dirty="0"/>
          </a:p>
        </p:txBody>
      </p:sp>
    </p:spTree>
    <p:extLst>
      <p:ext uri="{BB962C8B-B14F-4D97-AF65-F5344CB8AC3E}">
        <p14:creationId xmlns:p14="http://schemas.microsoft.com/office/powerpoint/2010/main" val="811899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F69B-AA0E-79B9-A52F-A6A77E025541}"/>
              </a:ext>
            </a:extLst>
          </p:cNvPr>
          <p:cNvSpPr>
            <a:spLocks noGrp="1"/>
          </p:cNvSpPr>
          <p:nvPr>
            <p:ph type="title"/>
          </p:nvPr>
        </p:nvSpPr>
        <p:spPr/>
        <p:txBody>
          <a:bodyPr>
            <a:normAutofit/>
          </a:bodyPr>
          <a:lstStyle/>
          <a:p>
            <a:r>
              <a:rPr lang="en-IN" sz="4800" dirty="0"/>
              <a:t>Relevance of the Work</a:t>
            </a:r>
          </a:p>
        </p:txBody>
      </p:sp>
      <p:sp>
        <p:nvSpPr>
          <p:cNvPr id="4" name="Rectangle 1">
            <a:extLst>
              <a:ext uri="{FF2B5EF4-FFF2-40B4-BE49-F238E27FC236}">
                <a16:creationId xmlns:a16="http://schemas.microsoft.com/office/drawing/2014/main" id="{5265CE7C-B69E-8746-D5B6-51CAEE7CE461}"/>
              </a:ext>
            </a:extLst>
          </p:cNvPr>
          <p:cNvSpPr>
            <a:spLocks noGrp="1" noChangeArrowheads="1"/>
          </p:cNvSpPr>
          <p:nvPr>
            <p:ph idx="1"/>
          </p:nvPr>
        </p:nvSpPr>
        <p:spPr bwMode="auto">
          <a:xfrm>
            <a:off x="1204452" y="1935737"/>
            <a:ext cx="978309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Increasing need for smart solutions in public and private sectors.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Helps reduce customer frustration by estimating waiting times.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Useful for optimizing staff allocation during peak hours.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Highly scalable across industries: retail, banks, hospitals, airports.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Cost-effective since it uses existing CCTV infrastructure.</a:t>
            </a:r>
          </a:p>
        </p:txBody>
      </p:sp>
    </p:spTree>
    <p:extLst>
      <p:ext uri="{BB962C8B-B14F-4D97-AF65-F5344CB8AC3E}">
        <p14:creationId xmlns:p14="http://schemas.microsoft.com/office/powerpoint/2010/main" val="2139052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30531-ECE0-EC6F-9C05-DB93FF6FC2FC}"/>
              </a:ext>
            </a:extLst>
          </p:cNvPr>
          <p:cNvSpPr>
            <a:spLocks noGrp="1"/>
          </p:cNvSpPr>
          <p:nvPr>
            <p:ph type="title"/>
          </p:nvPr>
        </p:nvSpPr>
        <p:spPr/>
        <p:txBody>
          <a:bodyPr>
            <a:normAutofit/>
          </a:bodyPr>
          <a:lstStyle/>
          <a:p>
            <a:r>
              <a:rPr lang="en-IN" sz="4800" dirty="0"/>
              <a:t>Proposed Work</a:t>
            </a:r>
          </a:p>
        </p:txBody>
      </p:sp>
      <p:sp>
        <p:nvSpPr>
          <p:cNvPr id="3" name="Content Placeholder 2">
            <a:extLst>
              <a:ext uri="{FF2B5EF4-FFF2-40B4-BE49-F238E27FC236}">
                <a16:creationId xmlns:a16="http://schemas.microsoft.com/office/drawing/2014/main" id="{6F30A473-15C1-F43B-76EC-9CDFE44BBED9}"/>
              </a:ext>
            </a:extLst>
          </p:cNvPr>
          <p:cNvSpPr>
            <a:spLocks noGrp="1"/>
          </p:cNvSpPr>
          <p:nvPr>
            <p:ph idx="1"/>
          </p:nvPr>
        </p:nvSpPr>
        <p:spPr>
          <a:xfrm>
            <a:off x="1192161" y="2141537"/>
            <a:ext cx="10515600" cy="4351338"/>
          </a:xfrm>
        </p:spPr>
        <p:txBody>
          <a:bodyPr/>
          <a:lstStyle/>
          <a:p>
            <a:r>
              <a:rPr lang="en-US" sz="2400" dirty="0"/>
              <a:t>Use a live camera feed integrated with a YOLO model for real-time person detection.</a:t>
            </a:r>
          </a:p>
          <a:p>
            <a:r>
              <a:rPr lang="en-US" sz="2400" dirty="0"/>
              <a:t>Count number of people and compute queue metrics like queue length &amp; average waiting time.</a:t>
            </a:r>
          </a:p>
          <a:p>
            <a:r>
              <a:rPr lang="en-US" sz="2400" dirty="0"/>
              <a:t>Build a web-based dashboard to display live queue statistics.</a:t>
            </a:r>
          </a:p>
          <a:p>
            <a:r>
              <a:rPr lang="en-US" sz="2400" dirty="0"/>
              <a:t>Ensure system runs in real time for practical deployment.</a:t>
            </a:r>
          </a:p>
          <a:p>
            <a:endParaRPr lang="en-IN" sz="2400" dirty="0"/>
          </a:p>
        </p:txBody>
      </p:sp>
    </p:spTree>
    <p:extLst>
      <p:ext uri="{BB962C8B-B14F-4D97-AF65-F5344CB8AC3E}">
        <p14:creationId xmlns:p14="http://schemas.microsoft.com/office/powerpoint/2010/main" val="311765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D6FAF-0F21-5EF6-2435-826FD3319553}"/>
              </a:ext>
            </a:extLst>
          </p:cNvPr>
          <p:cNvSpPr>
            <a:spLocks noGrp="1"/>
          </p:cNvSpPr>
          <p:nvPr>
            <p:ph type="title"/>
          </p:nvPr>
        </p:nvSpPr>
        <p:spPr>
          <a:xfrm>
            <a:off x="710380" y="57933"/>
            <a:ext cx="10515600" cy="1325563"/>
          </a:xfrm>
        </p:spPr>
        <p:txBody>
          <a:bodyPr>
            <a:normAutofit/>
          </a:bodyPr>
          <a:lstStyle/>
          <a:p>
            <a:r>
              <a:rPr lang="en-IN" sz="4800" dirty="0"/>
              <a:t>Proposed Methodology</a:t>
            </a:r>
          </a:p>
        </p:txBody>
      </p:sp>
      <p:sp>
        <p:nvSpPr>
          <p:cNvPr id="4" name="Rectangle 1">
            <a:extLst>
              <a:ext uri="{FF2B5EF4-FFF2-40B4-BE49-F238E27FC236}">
                <a16:creationId xmlns:a16="http://schemas.microsoft.com/office/drawing/2014/main" id="{0B0FE108-F983-24BC-1FBC-7349DE29B993}"/>
              </a:ext>
            </a:extLst>
          </p:cNvPr>
          <p:cNvSpPr>
            <a:spLocks noGrp="1" noChangeArrowheads="1"/>
          </p:cNvSpPr>
          <p:nvPr>
            <p:ph idx="1"/>
          </p:nvPr>
        </p:nvSpPr>
        <p:spPr bwMode="auto">
          <a:xfrm>
            <a:off x="2104103" y="1225689"/>
            <a:ext cx="798379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Identify the need for real-time queue monitoring.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Capture video stream using webcam or recorded data.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Apply YOLOv5/v8 pretrained model for detection.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Use OpenCV to process each frame and count people.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Estimate average waiting time using service time formula.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Backend using FastAPI for data processing.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Dashboard using HTML, CSS, JavaScript.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Test under varying lighting and crowd conditions.</a:t>
            </a:r>
          </a:p>
        </p:txBody>
      </p:sp>
    </p:spTree>
    <p:extLst>
      <p:ext uri="{BB962C8B-B14F-4D97-AF65-F5344CB8AC3E}">
        <p14:creationId xmlns:p14="http://schemas.microsoft.com/office/powerpoint/2010/main" val="3617233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04BFD-92D2-040B-2656-37F5D50FF3DA}"/>
              </a:ext>
            </a:extLst>
          </p:cNvPr>
          <p:cNvSpPr>
            <a:spLocks noGrp="1"/>
          </p:cNvSpPr>
          <p:nvPr>
            <p:ph type="title"/>
          </p:nvPr>
        </p:nvSpPr>
        <p:spPr/>
        <p:txBody>
          <a:bodyPr>
            <a:normAutofit/>
          </a:bodyPr>
          <a:lstStyle/>
          <a:p>
            <a:r>
              <a:rPr lang="en-IN" sz="4800" dirty="0"/>
              <a:t>Hardware / Software Requirements</a:t>
            </a:r>
          </a:p>
        </p:txBody>
      </p:sp>
      <p:sp>
        <p:nvSpPr>
          <p:cNvPr id="3" name="Content Placeholder 2">
            <a:extLst>
              <a:ext uri="{FF2B5EF4-FFF2-40B4-BE49-F238E27FC236}">
                <a16:creationId xmlns:a16="http://schemas.microsoft.com/office/drawing/2014/main" id="{918889AE-8B47-0667-0657-589FE3DD0C8A}"/>
              </a:ext>
            </a:extLst>
          </p:cNvPr>
          <p:cNvSpPr>
            <a:spLocks noGrp="1"/>
          </p:cNvSpPr>
          <p:nvPr>
            <p:ph idx="1"/>
          </p:nvPr>
        </p:nvSpPr>
        <p:spPr>
          <a:xfrm>
            <a:off x="1378975" y="1963276"/>
            <a:ext cx="10515600" cy="4351338"/>
          </a:xfrm>
        </p:spPr>
        <p:txBody>
          <a:bodyPr/>
          <a:lstStyle/>
          <a:p>
            <a:r>
              <a:rPr lang="en-IN" sz="2400" b="1" dirty="0"/>
              <a:t>Hardware:</a:t>
            </a:r>
            <a:endParaRPr lang="en-IN" sz="2400" dirty="0"/>
          </a:p>
          <a:p>
            <a:r>
              <a:rPr lang="en-IN" sz="2400" dirty="0"/>
              <a:t>Laptop/PC (i5 or above, 8GB RAM)</a:t>
            </a:r>
          </a:p>
          <a:p>
            <a:r>
              <a:rPr lang="en-IN" sz="2400" dirty="0"/>
              <a:t>Webcam / External Camera</a:t>
            </a:r>
          </a:p>
          <a:p>
            <a:r>
              <a:rPr lang="en-IN" sz="2400" b="1" dirty="0"/>
              <a:t>Software:</a:t>
            </a:r>
            <a:endParaRPr lang="en-IN" sz="2400" dirty="0"/>
          </a:p>
          <a:p>
            <a:r>
              <a:rPr lang="en-IN" sz="2400" dirty="0"/>
              <a:t>Python 3.10+</a:t>
            </a:r>
          </a:p>
          <a:p>
            <a:r>
              <a:rPr lang="en-IN" sz="2400" dirty="0"/>
              <a:t>Libraries: OpenCV, YOLOv5/v8, FastAPI, Pandas, Matplotlib</a:t>
            </a:r>
          </a:p>
          <a:p>
            <a:r>
              <a:rPr lang="en-IN" sz="2400" dirty="0"/>
              <a:t>Frontend: HTML, CSS, JavaScript</a:t>
            </a:r>
          </a:p>
          <a:p>
            <a:r>
              <a:rPr lang="en-IN" sz="2400" dirty="0"/>
              <a:t>OS: Windows / Linux</a:t>
            </a:r>
          </a:p>
          <a:p>
            <a:endParaRPr lang="en-IN" dirty="0"/>
          </a:p>
        </p:txBody>
      </p:sp>
    </p:spTree>
    <p:extLst>
      <p:ext uri="{BB962C8B-B14F-4D97-AF65-F5344CB8AC3E}">
        <p14:creationId xmlns:p14="http://schemas.microsoft.com/office/powerpoint/2010/main" val="1564341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67BC5-D0FB-CD4D-F043-ADF25B6E506A}"/>
              </a:ext>
            </a:extLst>
          </p:cNvPr>
          <p:cNvSpPr>
            <a:spLocks noGrp="1"/>
          </p:cNvSpPr>
          <p:nvPr>
            <p:ph type="title"/>
          </p:nvPr>
        </p:nvSpPr>
        <p:spPr/>
        <p:txBody>
          <a:bodyPr>
            <a:normAutofit/>
          </a:bodyPr>
          <a:lstStyle/>
          <a:p>
            <a:r>
              <a:rPr lang="en-IN" sz="4800" dirty="0"/>
              <a:t>System Flowchart / Architecture</a:t>
            </a:r>
          </a:p>
        </p:txBody>
      </p:sp>
      <p:pic>
        <p:nvPicPr>
          <p:cNvPr id="21" name="Content Placeholder 20">
            <a:extLst>
              <a:ext uri="{FF2B5EF4-FFF2-40B4-BE49-F238E27FC236}">
                <a16:creationId xmlns:a16="http://schemas.microsoft.com/office/drawing/2014/main" id="{3D5122BD-18C7-1EFB-ADEC-3B29DF4427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4173" y="2152890"/>
            <a:ext cx="9948112" cy="3611301"/>
          </a:xfrm>
        </p:spPr>
      </p:pic>
    </p:spTree>
    <p:extLst>
      <p:ext uri="{BB962C8B-B14F-4D97-AF65-F5344CB8AC3E}">
        <p14:creationId xmlns:p14="http://schemas.microsoft.com/office/powerpoint/2010/main" val="4213034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9CA4F-BD79-499F-CBD4-D602F5C38C55}"/>
              </a:ext>
            </a:extLst>
          </p:cNvPr>
          <p:cNvSpPr>
            <a:spLocks noGrp="1"/>
          </p:cNvSpPr>
          <p:nvPr>
            <p:ph type="title"/>
          </p:nvPr>
        </p:nvSpPr>
        <p:spPr/>
        <p:txBody>
          <a:bodyPr>
            <a:normAutofit/>
          </a:bodyPr>
          <a:lstStyle/>
          <a:p>
            <a:r>
              <a:rPr lang="en-IN" sz="4800" dirty="0"/>
              <a:t>Future Scope</a:t>
            </a:r>
          </a:p>
        </p:txBody>
      </p:sp>
      <p:sp>
        <p:nvSpPr>
          <p:cNvPr id="3" name="Content Placeholder 2">
            <a:extLst>
              <a:ext uri="{FF2B5EF4-FFF2-40B4-BE49-F238E27FC236}">
                <a16:creationId xmlns:a16="http://schemas.microsoft.com/office/drawing/2014/main" id="{4DCCE584-049A-0E49-0062-AB32F2EAB23A}"/>
              </a:ext>
            </a:extLst>
          </p:cNvPr>
          <p:cNvSpPr>
            <a:spLocks noGrp="1"/>
          </p:cNvSpPr>
          <p:nvPr>
            <p:ph idx="1"/>
          </p:nvPr>
        </p:nvSpPr>
        <p:spPr>
          <a:xfrm>
            <a:off x="1288026" y="1927123"/>
            <a:ext cx="10065774" cy="4249840"/>
          </a:xfrm>
        </p:spPr>
        <p:txBody>
          <a:bodyPr/>
          <a:lstStyle/>
          <a:p>
            <a:r>
              <a:rPr lang="en-US" sz="2400" dirty="0"/>
              <a:t>Integration with mobile and cloud-based alerts.</a:t>
            </a:r>
          </a:p>
          <a:p>
            <a:endParaRPr lang="en-US" sz="2400" dirty="0"/>
          </a:p>
          <a:p>
            <a:r>
              <a:rPr lang="en-US" sz="2400" dirty="0"/>
              <a:t>Multi-camera support for large-scale environments.</a:t>
            </a:r>
          </a:p>
          <a:p>
            <a:endParaRPr lang="en-US" sz="2400" dirty="0"/>
          </a:p>
          <a:p>
            <a:r>
              <a:rPr lang="en-US" sz="2400" dirty="0"/>
              <a:t>Improved analytics with AI predictions for rush hours.</a:t>
            </a:r>
          </a:p>
          <a:p>
            <a:endParaRPr lang="en-US" sz="2400" dirty="0"/>
          </a:p>
          <a:p>
            <a:r>
              <a:rPr lang="en-US" sz="2400" dirty="0"/>
              <a:t>Integration with queue token systems.</a:t>
            </a:r>
          </a:p>
          <a:p>
            <a:pPr marL="0" indent="0">
              <a:buNone/>
            </a:pPr>
            <a:endParaRPr lang="en-US" sz="2400" dirty="0"/>
          </a:p>
          <a:p>
            <a:pPr marL="0" indent="0">
              <a:buNone/>
            </a:pPr>
            <a:endParaRPr lang="en-IN" dirty="0"/>
          </a:p>
        </p:txBody>
      </p:sp>
    </p:spTree>
    <p:extLst>
      <p:ext uri="{BB962C8B-B14F-4D97-AF65-F5344CB8AC3E}">
        <p14:creationId xmlns:p14="http://schemas.microsoft.com/office/powerpoint/2010/main" val="3111957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410F7-478A-0B1D-466E-03C925256F49}"/>
              </a:ext>
            </a:extLst>
          </p:cNvPr>
          <p:cNvSpPr>
            <a:spLocks noGrp="1"/>
          </p:cNvSpPr>
          <p:nvPr>
            <p:ph type="title"/>
          </p:nvPr>
        </p:nvSpPr>
        <p:spPr/>
        <p:txBody>
          <a:bodyPr>
            <a:normAutofit/>
          </a:bodyPr>
          <a:lstStyle/>
          <a:p>
            <a:r>
              <a:rPr lang="en-IN" sz="4800" dirty="0"/>
              <a:t>Conclusion</a:t>
            </a:r>
          </a:p>
        </p:txBody>
      </p:sp>
      <p:sp>
        <p:nvSpPr>
          <p:cNvPr id="3" name="Content Placeholder 2">
            <a:extLst>
              <a:ext uri="{FF2B5EF4-FFF2-40B4-BE49-F238E27FC236}">
                <a16:creationId xmlns:a16="http://schemas.microsoft.com/office/drawing/2014/main" id="{805DC572-5FC8-A8D9-5DB2-616D9066E197}"/>
              </a:ext>
            </a:extLst>
          </p:cNvPr>
          <p:cNvSpPr>
            <a:spLocks noGrp="1"/>
          </p:cNvSpPr>
          <p:nvPr>
            <p:ph idx="1"/>
          </p:nvPr>
        </p:nvSpPr>
        <p:spPr>
          <a:xfrm>
            <a:off x="1356852" y="1690688"/>
            <a:ext cx="9996948" cy="4486275"/>
          </a:xfrm>
        </p:spPr>
        <p:txBody>
          <a:bodyPr/>
          <a:lstStyle/>
          <a:p>
            <a:r>
              <a:rPr lang="en-US" sz="2400" dirty="0"/>
              <a:t>The system enhances customer experience using AI-powered real-time queue monitoring.</a:t>
            </a:r>
          </a:p>
          <a:p>
            <a:endParaRPr lang="en-US" sz="2400" dirty="0"/>
          </a:p>
          <a:p>
            <a:r>
              <a:rPr lang="en-US" sz="2400" dirty="0"/>
              <a:t>Reduces waiting frustration by predicting waiting time.</a:t>
            </a:r>
          </a:p>
          <a:p>
            <a:endParaRPr lang="en-US" sz="2400" dirty="0"/>
          </a:p>
          <a:p>
            <a:r>
              <a:rPr lang="en-US" sz="2400" dirty="0"/>
              <a:t>Helps organizations improve operational efficiency and resource allocation.</a:t>
            </a:r>
          </a:p>
          <a:p>
            <a:endParaRPr lang="en-US" sz="2400" dirty="0"/>
          </a:p>
          <a:p>
            <a:r>
              <a:rPr lang="en-US" sz="2400" dirty="0"/>
              <a:t>Can be deployed in multiple real-world sectors using existing CCTV setups.</a:t>
            </a:r>
          </a:p>
          <a:p>
            <a:endParaRPr lang="en-IN" dirty="0"/>
          </a:p>
        </p:txBody>
      </p:sp>
    </p:spTree>
    <p:extLst>
      <p:ext uri="{BB962C8B-B14F-4D97-AF65-F5344CB8AC3E}">
        <p14:creationId xmlns:p14="http://schemas.microsoft.com/office/powerpoint/2010/main" val="427350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AD751-7DF2-6AD7-C983-D4659110BEBD}"/>
              </a:ext>
            </a:extLst>
          </p:cNvPr>
          <p:cNvSpPr>
            <a:spLocks noGrp="1"/>
          </p:cNvSpPr>
          <p:nvPr>
            <p:ph type="title"/>
          </p:nvPr>
        </p:nvSpPr>
        <p:spPr/>
        <p:txBody>
          <a:bodyPr>
            <a:normAutofit/>
          </a:bodyPr>
          <a:lstStyle/>
          <a:p>
            <a:r>
              <a:rPr lang="en-IN" sz="4800" dirty="0"/>
              <a:t>References</a:t>
            </a:r>
          </a:p>
        </p:txBody>
      </p:sp>
      <p:sp>
        <p:nvSpPr>
          <p:cNvPr id="4" name="Rectangle 1">
            <a:extLst>
              <a:ext uri="{FF2B5EF4-FFF2-40B4-BE49-F238E27FC236}">
                <a16:creationId xmlns:a16="http://schemas.microsoft.com/office/drawing/2014/main" id="{DF847601-62EC-274F-F869-FD96B03D416F}"/>
              </a:ext>
            </a:extLst>
          </p:cNvPr>
          <p:cNvSpPr>
            <a:spLocks noGrp="1" noChangeArrowheads="1"/>
          </p:cNvSpPr>
          <p:nvPr>
            <p:ph idx="1"/>
          </p:nvPr>
        </p:nvSpPr>
        <p:spPr bwMode="auto">
          <a:xfrm>
            <a:off x="2145890" y="2027664"/>
            <a:ext cx="617540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AssertAI – AI Queue Management Applications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Ultralytics YOLO Documentation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OpenCV Tutorials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scikit-learn Documentation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ChatGPT</a:t>
            </a:r>
          </a:p>
        </p:txBody>
      </p:sp>
    </p:spTree>
    <p:extLst>
      <p:ext uri="{BB962C8B-B14F-4D97-AF65-F5344CB8AC3E}">
        <p14:creationId xmlns:p14="http://schemas.microsoft.com/office/powerpoint/2010/main" val="1882083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E966-AE2D-426A-F5C2-47EF24EE9558}"/>
              </a:ext>
            </a:extLst>
          </p:cNvPr>
          <p:cNvSpPr>
            <a:spLocks noGrp="1"/>
          </p:cNvSpPr>
          <p:nvPr>
            <p:ph type="title"/>
          </p:nvPr>
        </p:nvSpPr>
        <p:spPr/>
        <p:txBody>
          <a:bodyPr/>
          <a:lstStyle/>
          <a:p>
            <a:pPr algn="ctr"/>
            <a:r>
              <a:rPr lang="en-US" dirty="0"/>
              <a:t>OUTPUT</a:t>
            </a:r>
            <a:endParaRPr lang="en-IN" dirty="0"/>
          </a:p>
        </p:txBody>
      </p:sp>
      <p:pic>
        <p:nvPicPr>
          <p:cNvPr id="13" name="Content Placeholder 12">
            <a:extLst>
              <a:ext uri="{FF2B5EF4-FFF2-40B4-BE49-F238E27FC236}">
                <a16:creationId xmlns:a16="http://schemas.microsoft.com/office/drawing/2014/main" id="{34B4E106-23DC-0934-0755-22FC5750F3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471" y="2068558"/>
            <a:ext cx="5329084" cy="3835317"/>
          </a:xfrm>
        </p:spPr>
      </p:pic>
      <p:pic>
        <p:nvPicPr>
          <p:cNvPr id="15" name="Picture 14">
            <a:extLst>
              <a:ext uri="{FF2B5EF4-FFF2-40B4-BE49-F238E27FC236}">
                <a16:creationId xmlns:a16="http://schemas.microsoft.com/office/drawing/2014/main" id="{9A3777E5-8768-0B1A-781A-C4C0CBA0A3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68558"/>
            <a:ext cx="5694832" cy="3835317"/>
          </a:xfrm>
          <a:prstGeom prst="rect">
            <a:avLst/>
          </a:prstGeom>
        </p:spPr>
      </p:pic>
      <p:sp>
        <p:nvSpPr>
          <p:cNvPr id="16" name="TextBox 15">
            <a:extLst>
              <a:ext uri="{FF2B5EF4-FFF2-40B4-BE49-F238E27FC236}">
                <a16:creationId xmlns:a16="http://schemas.microsoft.com/office/drawing/2014/main" id="{DD7C4C4B-4A12-431B-796E-893E0ACE5773}"/>
              </a:ext>
            </a:extLst>
          </p:cNvPr>
          <p:cNvSpPr txBox="1"/>
          <p:nvPr/>
        </p:nvSpPr>
        <p:spPr>
          <a:xfrm>
            <a:off x="1651819" y="6281745"/>
            <a:ext cx="2556387" cy="369332"/>
          </a:xfrm>
          <a:prstGeom prst="rect">
            <a:avLst/>
          </a:prstGeom>
          <a:noFill/>
        </p:spPr>
        <p:txBody>
          <a:bodyPr wrap="square" rtlCol="0">
            <a:spAutoFit/>
          </a:bodyPr>
          <a:lstStyle/>
          <a:p>
            <a:r>
              <a:rPr lang="en-US" dirty="0"/>
              <a:t>Figure 1.1 Queue Started</a:t>
            </a:r>
            <a:endParaRPr lang="en-IN" dirty="0"/>
          </a:p>
        </p:txBody>
      </p:sp>
      <p:sp>
        <p:nvSpPr>
          <p:cNvPr id="17" name="TextBox 16">
            <a:extLst>
              <a:ext uri="{FF2B5EF4-FFF2-40B4-BE49-F238E27FC236}">
                <a16:creationId xmlns:a16="http://schemas.microsoft.com/office/drawing/2014/main" id="{08C02A10-A41B-0DBE-87FA-5DBB6D5708BD}"/>
              </a:ext>
            </a:extLst>
          </p:cNvPr>
          <p:cNvSpPr txBox="1"/>
          <p:nvPr/>
        </p:nvSpPr>
        <p:spPr>
          <a:xfrm>
            <a:off x="7521677" y="6281745"/>
            <a:ext cx="2664542" cy="369332"/>
          </a:xfrm>
          <a:prstGeom prst="rect">
            <a:avLst/>
          </a:prstGeom>
          <a:noFill/>
        </p:spPr>
        <p:txBody>
          <a:bodyPr wrap="square" rtlCol="0">
            <a:spAutoFit/>
          </a:bodyPr>
          <a:lstStyle/>
          <a:p>
            <a:r>
              <a:rPr lang="en-US" dirty="0"/>
              <a:t>Figure 1.2 People Entered</a:t>
            </a:r>
            <a:endParaRPr lang="en-IN" dirty="0"/>
          </a:p>
        </p:txBody>
      </p:sp>
    </p:spTree>
    <p:extLst>
      <p:ext uri="{BB962C8B-B14F-4D97-AF65-F5344CB8AC3E}">
        <p14:creationId xmlns:p14="http://schemas.microsoft.com/office/powerpoint/2010/main" val="3145810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D9BE-5367-8B6E-47AF-61BDAD2DF05B}"/>
              </a:ext>
            </a:extLst>
          </p:cNvPr>
          <p:cNvSpPr>
            <a:spLocks noGrp="1"/>
          </p:cNvSpPr>
          <p:nvPr>
            <p:ph type="title"/>
          </p:nvPr>
        </p:nvSpPr>
        <p:spPr/>
        <p:txBody>
          <a:bodyPr/>
          <a:lstStyle/>
          <a:p>
            <a:pPr algn="ctr"/>
            <a:r>
              <a:rPr lang="en-US" dirty="0"/>
              <a:t>OUTPUT</a:t>
            </a:r>
            <a:endParaRPr lang="en-IN" dirty="0"/>
          </a:p>
        </p:txBody>
      </p:sp>
      <p:pic>
        <p:nvPicPr>
          <p:cNvPr id="5" name="Content Placeholder 4">
            <a:extLst>
              <a:ext uri="{FF2B5EF4-FFF2-40B4-BE49-F238E27FC236}">
                <a16:creationId xmlns:a16="http://schemas.microsoft.com/office/drawing/2014/main" id="{C28BC4E4-DD8B-EC34-549D-CFF4BB1AEB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966" y="2051312"/>
            <a:ext cx="5625395" cy="3318450"/>
          </a:xfrm>
        </p:spPr>
      </p:pic>
      <p:pic>
        <p:nvPicPr>
          <p:cNvPr id="7" name="Picture 6">
            <a:extLst>
              <a:ext uri="{FF2B5EF4-FFF2-40B4-BE49-F238E27FC236}">
                <a16:creationId xmlns:a16="http://schemas.microsoft.com/office/drawing/2014/main" id="{B8A3CB51-B079-C143-35CD-E770D10969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3652" y="2051312"/>
            <a:ext cx="5743382" cy="3318450"/>
          </a:xfrm>
          <a:prstGeom prst="rect">
            <a:avLst/>
          </a:prstGeom>
        </p:spPr>
      </p:pic>
      <p:sp>
        <p:nvSpPr>
          <p:cNvPr id="8" name="TextBox 7">
            <a:extLst>
              <a:ext uri="{FF2B5EF4-FFF2-40B4-BE49-F238E27FC236}">
                <a16:creationId xmlns:a16="http://schemas.microsoft.com/office/drawing/2014/main" id="{A9E96AA6-25E7-0175-B206-B8B46232A837}"/>
              </a:ext>
            </a:extLst>
          </p:cNvPr>
          <p:cNvSpPr txBox="1"/>
          <p:nvPr/>
        </p:nvSpPr>
        <p:spPr>
          <a:xfrm>
            <a:off x="7669161" y="5843804"/>
            <a:ext cx="3048000" cy="369332"/>
          </a:xfrm>
          <a:prstGeom prst="rect">
            <a:avLst/>
          </a:prstGeom>
          <a:noFill/>
        </p:spPr>
        <p:txBody>
          <a:bodyPr wrap="square" rtlCol="0">
            <a:spAutoFit/>
          </a:bodyPr>
          <a:lstStyle/>
          <a:p>
            <a:r>
              <a:rPr lang="en-US" dirty="0"/>
              <a:t>Figure 1.4 Queue Limit Exceed</a:t>
            </a:r>
            <a:endParaRPr lang="en-IN" dirty="0"/>
          </a:p>
        </p:txBody>
      </p:sp>
      <p:sp>
        <p:nvSpPr>
          <p:cNvPr id="9" name="TextBox 8">
            <a:extLst>
              <a:ext uri="{FF2B5EF4-FFF2-40B4-BE49-F238E27FC236}">
                <a16:creationId xmlns:a16="http://schemas.microsoft.com/office/drawing/2014/main" id="{F7BEC5D4-6BEC-9093-0946-4CF0E1EBEE8E}"/>
              </a:ext>
            </a:extLst>
          </p:cNvPr>
          <p:cNvSpPr txBox="1"/>
          <p:nvPr/>
        </p:nvSpPr>
        <p:spPr>
          <a:xfrm flipH="1">
            <a:off x="1772329" y="5843804"/>
            <a:ext cx="2510668" cy="369332"/>
          </a:xfrm>
          <a:prstGeom prst="rect">
            <a:avLst/>
          </a:prstGeom>
          <a:noFill/>
        </p:spPr>
        <p:txBody>
          <a:bodyPr wrap="square" rtlCol="0">
            <a:spAutoFit/>
          </a:bodyPr>
          <a:lstStyle/>
          <a:p>
            <a:r>
              <a:rPr lang="en-US" dirty="0"/>
              <a:t>Figure 1.3 Queue full</a:t>
            </a:r>
            <a:endParaRPr lang="en-IN" dirty="0"/>
          </a:p>
        </p:txBody>
      </p:sp>
    </p:spTree>
    <p:extLst>
      <p:ext uri="{BB962C8B-B14F-4D97-AF65-F5344CB8AC3E}">
        <p14:creationId xmlns:p14="http://schemas.microsoft.com/office/powerpoint/2010/main" val="1139266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035C7-A4DF-8AD4-9425-E36E6CE7653C}"/>
              </a:ext>
            </a:extLst>
          </p:cNvPr>
          <p:cNvSpPr>
            <a:spLocks noGrp="1"/>
          </p:cNvSpPr>
          <p:nvPr>
            <p:ph type="title"/>
          </p:nvPr>
        </p:nvSpPr>
        <p:spPr/>
        <p:txBody>
          <a:bodyPr/>
          <a:lstStyle/>
          <a:p>
            <a:pPr algn="ctr"/>
            <a:r>
              <a:rPr lang="en-US" dirty="0"/>
              <a:t>OUTPUT</a:t>
            </a:r>
            <a:endParaRPr lang="en-IN" dirty="0"/>
          </a:p>
        </p:txBody>
      </p:sp>
      <p:pic>
        <p:nvPicPr>
          <p:cNvPr id="5" name="Content Placeholder 4">
            <a:extLst>
              <a:ext uri="{FF2B5EF4-FFF2-40B4-BE49-F238E27FC236}">
                <a16:creationId xmlns:a16="http://schemas.microsoft.com/office/drawing/2014/main" id="{6EE9FE83-86B9-E5AB-C8D9-A2C0826354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5999" y="1957635"/>
            <a:ext cx="5919019" cy="3735243"/>
          </a:xfrm>
        </p:spPr>
      </p:pic>
      <p:pic>
        <p:nvPicPr>
          <p:cNvPr id="7" name="Picture 6">
            <a:extLst>
              <a:ext uri="{FF2B5EF4-FFF2-40B4-BE49-F238E27FC236}">
                <a16:creationId xmlns:a16="http://schemas.microsoft.com/office/drawing/2014/main" id="{F90274BF-466B-62F3-E46C-B0E307AE94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12066"/>
            <a:ext cx="5919020" cy="3780812"/>
          </a:xfrm>
          <a:prstGeom prst="rect">
            <a:avLst/>
          </a:prstGeom>
        </p:spPr>
      </p:pic>
      <p:sp>
        <p:nvSpPr>
          <p:cNvPr id="8" name="TextBox 7">
            <a:extLst>
              <a:ext uri="{FF2B5EF4-FFF2-40B4-BE49-F238E27FC236}">
                <a16:creationId xmlns:a16="http://schemas.microsoft.com/office/drawing/2014/main" id="{6B7FC500-7F3C-941E-CBA6-A8672AE602B8}"/>
              </a:ext>
            </a:extLst>
          </p:cNvPr>
          <p:cNvSpPr txBox="1"/>
          <p:nvPr/>
        </p:nvSpPr>
        <p:spPr>
          <a:xfrm>
            <a:off x="4621160" y="6123543"/>
            <a:ext cx="2949677" cy="369332"/>
          </a:xfrm>
          <a:prstGeom prst="rect">
            <a:avLst/>
          </a:prstGeom>
          <a:noFill/>
        </p:spPr>
        <p:txBody>
          <a:bodyPr wrap="square" rtlCol="0">
            <a:spAutoFit/>
          </a:bodyPr>
          <a:lstStyle/>
          <a:p>
            <a:r>
              <a:rPr lang="en-US" dirty="0"/>
              <a:t>Figure 1.5  Dashboard Screen</a:t>
            </a:r>
            <a:endParaRPr lang="en-IN" dirty="0"/>
          </a:p>
        </p:txBody>
      </p:sp>
    </p:spTree>
    <p:extLst>
      <p:ext uri="{BB962C8B-B14F-4D97-AF65-F5344CB8AC3E}">
        <p14:creationId xmlns:p14="http://schemas.microsoft.com/office/powerpoint/2010/main" val="24675499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258</TotalTime>
  <Words>740</Words>
  <Application>Microsoft Office PowerPoint</Application>
  <PresentationFormat>Widescreen</PresentationFormat>
  <Paragraphs>131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Bookman Old Style</vt:lpstr>
      <vt:lpstr>Calibri</vt:lpstr>
      <vt:lpstr>Calibri Light</vt:lpstr>
      <vt:lpstr>Office Theme</vt:lpstr>
      <vt:lpstr>; </vt:lpstr>
      <vt:lpstr>Agenda</vt:lpstr>
      <vt:lpstr>Introduction</vt:lpstr>
      <vt:lpstr>Literature Review</vt:lpstr>
      <vt:lpstr>Relevance of the Work</vt:lpstr>
      <vt:lpstr>Proposed Work</vt:lpstr>
      <vt:lpstr>Proposed Methodology</vt:lpstr>
      <vt:lpstr>Hardware / Software Requirements</vt:lpstr>
      <vt:lpstr>System Flowchart / Architecture</vt:lpstr>
      <vt:lpstr>Future Scope</vt:lpstr>
      <vt:lpstr>Conclusion</vt:lpstr>
      <vt:lpstr>References</vt:lpstr>
      <vt:lpstr>OUTPUT</vt:lpstr>
      <vt:lpstr>OUTPUT</vt:lpstr>
      <vt:lpstr>OUTPUT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Prashant Sawant</dc:creator>
  <cp:lastModifiedBy>Prashant Sawant</cp:lastModifiedBy>
  <cp:revision>11</cp:revision>
  <dcterms:created xsi:type="dcterms:W3CDTF">2025-11-20T18:03:24Z</dcterms:created>
  <dcterms:modified xsi:type="dcterms:W3CDTF">2025-12-07T12:08:03Z</dcterms:modified>
</cp:coreProperties>
</file>